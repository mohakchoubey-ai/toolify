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FFFFFF"/>
                </a:solidFill>
                <a:latin typeface="Arial"/>
              </a:rPr>
              <a:t>India Renewable Capacity (GW)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Solar Output</c:v>
                </c:pt>
              </c:strCache>
            </c:strRef>
          </c:tx>
          <c:spPr>
            <a:solidFill>
              <a:srgbClr val="E8A020"/>
            </a:solidFill>
            <a:ln w="31750" cap="flat">
              <a:solidFill>
                <a:srgbClr val="E8A02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A020"/>
              </a:solidFill>
              <a:ln w="9525" cap="flat">
                <a:solidFill>
                  <a:srgbClr val="E8A02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</c:v>
                </c:pt>
                <c:pt idx="1">
                  <c:v>62</c:v>
                </c:pt>
                <c:pt idx="2">
                  <c:v>78</c:v>
                </c:pt>
                <c:pt idx="3">
                  <c:v>95</c:v>
                </c:pt>
                <c:pt idx="4">
                  <c:v>118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Wind Output</c:v>
                </c:pt>
              </c:strCache>
            </c:strRef>
          </c:tx>
          <c:spPr>
            <a:solidFill>
              <a:srgbClr val="22D3EE"/>
            </a:solidFill>
            <a:ln w="31750" cap="flat">
              <a:solidFill>
                <a:srgbClr val="22D3E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2D3EE"/>
              </a:solidFill>
              <a:ln w="9525" cap="flat">
                <a:solidFill>
                  <a:srgbClr val="22D3E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39</c:v>
                </c:pt>
                <c:pt idx="1">
                  <c:v>48</c:v>
                </c:pt>
                <c:pt idx="2">
                  <c:v>58</c:v>
                </c:pt>
                <c:pt idx="3">
                  <c:v>70</c:v>
                </c:pt>
                <c:pt idx="4">
                  <c:v>85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0AEC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D4A6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0AEC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1A3A5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AI Impact by Sector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AI Impact Areas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7A4E"/>
              </a:solidFill>
              <a:effectLst/>
            </c:spPr>
          </c:dPt>
          <c:dPt>
            <c:idx val="1"/>
            <c:bubble3D val="0"/>
            <c:spPr>
              <a:solidFill>
                <a:srgbClr val="E05C40"/>
              </a:solidFill>
              <a:effectLst/>
            </c:spPr>
          </c:dPt>
          <c:dPt>
            <c:idx val="2"/>
            <c:bubble3D val="0"/>
            <c:spPr>
              <a:solidFill>
                <a:srgbClr val="E8A020"/>
              </a:solidFill>
              <a:effectLst/>
            </c:spPr>
          </c:dPt>
          <c:dPt>
            <c:idx val="3"/>
            <c:bubble3D val="0"/>
            <c:spPr>
              <a:solidFill>
                <a:srgbClr val="0891B2"/>
              </a:solidFill>
              <a:effectLst/>
            </c:spPr>
          </c:dPt>
          <c:dPt>
            <c:idx val="4"/>
            <c:bubble3D val="0"/>
            <c:spPr>
              <a:solidFill>
                <a:srgbClr val="6366F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Agriculture &amp; Food</c:v>
                </c:pt>
                <c:pt idx="1">
                  <c:v>Healthcare</c:v>
                </c:pt>
                <c:pt idx="2">
                  <c:v>Energy &amp; Climate</c:v>
                </c:pt>
                <c:pt idx="3">
                  <c:v>Cities &amp; Infrastructure</c:v>
                </c:pt>
                <c:pt idx="4">
                  <c:v>Education &amp; Skills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24</c:v>
                </c:pt>
                <c:pt idx="1">
                  <c:v>20</c:v>
                </c:pt>
                <c:pt idx="2">
                  <c:v>22</c:v>
                </c:pt>
                <c:pt idx="3">
                  <c:v>18</c:v>
                </c:pt>
                <c:pt idx="4">
                  <c:v>16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audience. Introduce yourself and the scope of the presentation.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agenda. This presentation covers 20 slides across 5 thematic areas.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AI and Sustainable Development. Emphasize that their convergence is a key opportunity for India and the world.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AI technology hierarchy from broad AI down to specific applications like Generative AI and NLP.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 pillars of sustainable development must be balanced. AI can contribute across all three dimensions.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Briefly explain each SDG. Highlight those where AI plays a direct role. India has committed to achieving all 17 SDGs by 2030.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shows how AI creates a chain reaction from data collection to sustainable outcomes.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Agriculture is India's backbone. AI is transforming smallholder farming via mobile advisory, drone imaging, and smart irrigation.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India's healthcare faces a massive access gap. AI is helping bridge it through telemedicine, diagnostic AI, and digital health records.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India has a target of 500 GW renewable energy by 2030. AI is essential for managing grid stability and forecasting output from variable 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India is one of the most climate-vulnerable nations. AI-based early warning systems are saving lives and reducing economic losses.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India's 100 Smart Cities Mission integrates AI and IoT for urban governance. Cities like Surat and Indore are global benchmarks.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India's EdTech sector is booming. AI-driven personalized learning can help bridge the quality gap across urban and rural schools.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AI's benefits are measurable across sectors. The WEF estimates AI could enable 2.6 Gt of CO₂ reductions annually by 2030.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Responsible AI adoption requires addressing these challenges proactively. India's National AI Strategy emphasizes inclusive and ethical 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case studies show that AI for sustainability is no longer theoretical — it's delivering measurable results globally and in India.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next decade will see AI move from narrow applications to transformative, autonomous systems. Governance and ethics must evolve alongside.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Sustainable AI development is a shared responsibility. Each stakeholder group plays a crucial role in shaping an inclusive, responsible AI future.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these key takeaways and the quote from India's National AI Strategy. Emphasize that every participant has a role to play.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floor for questions. Thank the audience for their time and engagement.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0-1.png"/><Relationship Id="rId3" Type="http://schemas.openxmlformats.org/officeDocument/2006/relationships/image" Target="../media/image-10-2.png"/><Relationship Id="rId4" Type="http://schemas.openxmlformats.org/officeDocument/2006/relationships/image" Target="../media/image-10-3.png"/><Relationship Id="rId5" Type="http://schemas.openxmlformats.org/officeDocument/2006/relationships/image" Target="../media/image-10-4.png"/><Relationship Id="rId6" Type="http://schemas.openxmlformats.org/officeDocument/2006/relationships/image" Target="../media/image-10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14-1.png"/><Relationship Id="rId3" Type="http://schemas.openxmlformats.org/officeDocument/2006/relationships/image" Target="../media/image-14-2.png"/><Relationship Id="rId4" Type="http://schemas.openxmlformats.org/officeDocument/2006/relationships/image" Target="../media/image-14-3.png"/><Relationship Id="rId5" Type="http://schemas.openxmlformats.org/officeDocument/2006/relationships/image" Target="../media/image-14-4.png"/><Relationship Id="rId6" Type="http://schemas.openxmlformats.org/officeDocument/2006/relationships/image" Target="../media/image-14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image" Target="../media/image-1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2286000"/>
            <a:ext cx="5486400" cy="5486400"/>
          </a:xfrm>
          <a:prstGeom prst="ellipse">
            <a:avLst/>
          </a:prstGeom>
          <a:solidFill>
            <a:srgbClr val="1A3A5C">
              <a:alpha val="50000"/>
            </a:srgbClr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0B7A4E">
              <a:alpha val="30000"/>
            </a:srgbClr>
          </a:solidFill>
          <a:ln w="12700">
            <a:solidFill>
              <a:srgbClr val="0B7A4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97280"/>
            <a:ext cx="109728" cy="2926080"/>
          </a:xfrm>
          <a:prstGeom prst="roundRect">
            <a:avLst>
              <a:gd name="adj" fmla="val 41667"/>
            </a:avLst>
          </a:prstGeom>
          <a:solidFill>
            <a:srgbClr val="0E9A62"/>
          </a:solidFill>
          <a:ln w="12700">
            <a:solidFill>
              <a:srgbClr val="0E9A6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02920"/>
            <a:ext cx="822960" cy="82296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502920"/>
            <a:ext cx="822960" cy="82296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502920"/>
            <a:ext cx="822960" cy="822960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0" y="502920"/>
            <a:ext cx="822960" cy="822960"/>
          </a:xfrm>
          <a:prstGeom prst="rect">
            <a:avLst/>
          </a:prstGeom>
        </p:spPr>
      </p:pic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502920"/>
            <a:ext cx="822960" cy="822960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548640" y="12344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Artificial Intelligence</a:t>
            </a:r>
            <a:endParaRPr lang="en-US" sz="3800" dirty="0"/>
          </a:p>
        </p:txBody>
      </p:sp>
      <p:sp>
        <p:nvSpPr>
          <p:cNvPr id="11" name="Text 4"/>
          <p:cNvSpPr/>
          <p:nvPr/>
        </p:nvSpPr>
        <p:spPr>
          <a:xfrm>
            <a:off x="548640" y="199339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1C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Sustainable Development</a:t>
            </a:r>
            <a:endParaRPr lang="en-US" sz="3800" dirty="0"/>
          </a:p>
        </p:txBody>
      </p:sp>
      <p:sp>
        <p:nvSpPr>
          <p:cNvPr id="12" name="Text 5"/>
          <p:cNvSpPr/>
          <p:nvPr/>
        </p:nvSpPr>
        <p:spPr>
          <a:xfrm>
            <a:off x="548640" y="2834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Smarter and Greener Future</a:t>
            </a:r>
            <a:endParaRPr lang="en-US" sz="1800" dirty="0"/>
          </a:p>
        </p:txBody>
      </p:sp>
      <p:sp>
        <p:nvSpPr>
          <p:cNvPr id="13" name="Shape 6"/>
          <p:cNvSpPr/>
          <p:nvPr/>
        </p:nvSpPr>
        <p:spPr>
          <a:xfrm>
            <a:off x="548640" y="3401568"/>
            <a:ext cx="5486400" cy="36576"/>
          </a:xfrm>
          <a:prstGeom prst="rect">
            <a:avLst/>
          </a:prstGeom>
          <a:solidFill>
            <a:srgbClr val="0E9A62"/>
          </a:solidFill>
          <a:ln w="12700">
            <a:solidFill>
              <a:srgbClr val="0E9A62"/>
            </a:solidFill>
            <a:prstDash val="solid"/>
          </a:ln>
        </p:spPr>
      </p:sp>
      <p:sp>
        <p:nvSpPr>
          <p:cNvPr id="14" name="Text 7"/>
          <p:cNvSpPr/>
          <p:nvPr/>
        </p:nvSpPr>
        <p:spPr>
          <a:xfrm>
            <a:off x="548640" y="36118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 ·  Climate  ·  SDGs  ·  India  ·  Global Perspective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– 2026   |   Academic &amp; Professional Presentation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676656"/>
          </a:xfrm>
          <a:prstGeom prst="roundRect">
            <a:avLst>
              <a:gd name="adj" fmla="val 10811"/>
            </a:avLst>
          </a:prstGeom>
          <a:solidFill>
            <a:srgbClr val="F0F4F8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252728"/>
            <a:ext cx="502920" cy="457200"/>
          </a:xfrm>
          <a:prstGeom prst="roundRect">
            <a:avLst>
              <a:gd name="adj" fmla="val 14000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5272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197864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AI Fundamentals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490472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definition, ML, DL, NLP, Generative AI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911096"/>
            <a:ext cx="841248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2020824"/>
            <a:ext cx="502920" cy="457200"/>
          </a:xfrm>
          <a:prstGeom prst="roundRect">
            <a:avLst>
              <a:gd name="adj" fmla="val 14000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2082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196596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Development &amp; SDGs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258568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pillars, UN goals, AI's role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679192"/>
            <a:ext cx="8412480" cy="676656"/>
          </a:xfrm>
          <a:prstGeom prst="roundRect">
            <a:avLst>
              <a:gd name="adj" fmla="val 10811"/>
            </a:avLst>
          </a:prstGeom>
          <a:solidFill>
            <a:srgbClr val="F0F4F8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2788920"/>
            <a:ext cx="502920" cy="457200"/>
          </a:xfrm>
          <a:prstGeom prst="roundRect">
            <a:avLst>
              <a:gd name="adj" fmla="val 14000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7889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273405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Key Sectors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302666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Agriculture, Healthcare, Energy, Climate, Cities, Education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447288"/>
            <a:ext cx="841248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3557016"/>
            <a:ext cx="502920" cy="457200"/>
          </a:xfrm>
          <a:prstGeom prst="roundRect">
            <a:avLst>
              <a:gd name="adj" fmla="val 14000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55701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" y="350215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&amp; Challenges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379476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Opportunities, ethical issues, digital divide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215384"/>
            <a:ext cx="8412480" cy="676656"/>
          </a:xfrm>
          <a:prstGeom prst="roundRect">
            <a:avLst>
              <a:gd name="adj" fmla="val 10811"/>
            </a:avLst>
          </a:prstGeom>
          <a:solidFill>
            <a:srgbClr val="F0F4F8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" y="4325112"/>
            <a:ext cx="502920" cy="457200"/>
          </a:xfrm>
          <a:prstGeom prst="roundRect">
            <a:avLst>
              <a:gd name="adj" fmla="val 14000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3251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43000" y="427024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Studies &amp; Future Outlook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43000" y="4562856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&amp; global examples, Green AI, recommendations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697480" cy="34747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234440"/>
            <a:ext cx="1417320" cy="914400"/>
          </a:xfrm>
          <a:prstGeom prst="roundRect">
            <a:avLst>
              <a:gd name="adj" fmla="val 10000"/>
            </a:avLst>
          </a:prstGeom>
          <a:solidFill>
            <a:srgbClr val="6366F1">
              <a:alpha val="85000"/>
            </a:srgbClr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41732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22402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11480" y="2788920"/>
            <a:ext cx="2514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the simulation of human intelligence by machines — enabling them to learn, reason, perceive, and act autonomously to solve complex problems.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172968" y="1097280"/>
            <a:ext cx="2697480" cy="34747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813048" y="1234440"/>
            <a:ext cx="1417320" cy="914400"/>
          </a:xfrm>
          <a:prstGeom prst="roundRect">
            <a:avLst>
              <a:gd name="adj" fmla="val 10000"/>
            </a:avLst>
          </a:prstGeom>
          <a:solidFill>
            <a:srgbClr val="0B7A4E">
              <a:alpha val="85000"/>
            </a:srgbClr>
          </a:solidFill>
          <a:ln w="12700">
            <a:solidFill>
              <a:srgbClr val="0B7A4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1648" y="141732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64408" y="22402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Development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264408" y="2788920"/>
            <a:ext cx="2514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the needs of the present without compromising the ability of future generations to meet their own needs. (Brundtland Commission, 1987)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025896" y="1097280"/>
            <a:ext cx="2697480" cy="34747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665976" y="1234440"/>
            <a:ext cx="1417320" cy="914400"/>
          </a:xfrm>
          <a:prstGeom prst="roundRect">
            <a:avLst>
              <a:gd name="adj" fmla="val 10000"/>
            </a:avLst>
          </a:prstGeom>
          <a:solidFill>
            <a:srgbClr val="0891B2">
              <a:alpha val="85000"/>
            </a:srgbClr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4576" y="1417320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17336" y="22402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AI + Sustainability?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117336" y="2788920"/>
            <a:ext cx="2514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accelerate SDG progress by optimizing resources, predicting risks, automating decisions, and uncovering insights in vast data streams.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320040" y="4663440"/>
            <a:ext cx="8503920" cy="365760"/>
          </a:xfrm>
          <a:prstGeom prst="roundRect">
            <a:avLst>
              <a:gd name="adj" fmla="val 15000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India ranked 7th in AI preparedness (NITI Aayog, 2024)   ·   AI could add USD 967 bn to India's GDP by 2035 (Accenture)   ·   100+ AI startups in sustainability globally (WEF)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Artificial Intelligence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Technology Stack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8321040" cy="960120"/>
          </a:xfrm>
          <a:prstGeom prst="roundRect">
            <a:avLst>
              <a:gd name="adj" fmla="val 9524"/>
            </a:avLst>
          </a:prstGeom>
          <a:solidFill>
            <a:srgbClr val="1E4976"/>
          </a:solidFill>
          <a:ln w="12700">
            <a:solidFill>
              <a:srgbClr val="1E497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859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307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88720" y="1636776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field: machines mimicking human cognition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11480" y="2240280"/>
            <a:ext cx="8321040" cy="777240"/>
          </a:xfrm>
          <a:prstGeom prst="roundRect">
            <a:avLst>
              <a:gd name="adj" fmla="val 11765"/>
            </a:avLst>
          </a:prstGeom>
          <a:solidFill>
            <a:srgbClr val="1A3A5C"/>
          </a:solidFill>
          <a:ln w="12700">
            <a:solidFill>
              <a:srgbClr val="1E4976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40030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231343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188720" y="2642616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that learn from data without explicit programming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11480" y="3063240"/>
            <a:ext cx="8321040" cy="749808"/>
          </a:xfrm>
          <a:prstGeom prst="roundRect">
            <a:avLst>
              <a:gd name="adj" fmla="val 12195"/>
            </a:avLst>
          </a:prstGeom>
          <a:solidFill>
            <a:srgbClr val="1A3D5C"/>
          </a:solidFill>
          <a:ln w="12700">
            <a:solidFill>
              <a:srgbClr val="1E4976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209544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31363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188720" y="3465576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neural networks mimicking the human brain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11480" y="3858768"/>
            <a:ext cx="8321040" cy="749808"/>
          </a:xfrm>
          <a:prstGeom prst="roundRect">
            <a:avLst>
              <a:gd name="adj" fmla="val 12195"/>
            </a:avLst>
          </a:prstGeom>
          <a:solidFill>
            <a:srgbClr val="0B7A4E"/>
          </a:solidFill>
          <a:ln w="12700">
            <a:solidFill>
              <a:srgbClr val="1E4976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005072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88720" y="393192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· NLP · Generative AI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188720" y="4261104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applications: image recognition, language models, content generation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7A4E"/>
          </a:solidFill>
          <a:ln w="12700">
            <a:solidFill>
              <a:srgbClr val="0B7A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Sustainable Development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697480" cy="3749040"/>
          </a:xfrm>
          <a:prstGeom prst="roundRect">
            <a:avLst>
              <a:gd name="adj" fmla="val 4068"/>
            </a:avLst>
          </a:prstGeom>
          <a:solidFill>
            <a:srgbClr val="F0F4F8"/>
          </a:solidFill>
          <a:ln w="25400">
            <a:solidFill>
              <a:srgbClr val="E8A02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25880" y="1234440"/>
            <a:ext cx="685800" cy="68580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5608" y="134416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202996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2487168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Inclusive growth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economy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 work &amp; wages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infrastructure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inequalities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2487168"/>
            <a:ext cx="2423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Inclusive growth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economy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 work &amp; wages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infrastructure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inequalities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172968" y="1097280"/>
            <a:ext cx="2697480" cy="3749040"/>
          </a:xfrm>
          <a:prstGeom prst="roundRect">
            <a:avLst>
              <a:gd name="adj" fmla="val 4068"/>
            </a:avLst>
          </a:prstGeom>
          <a:solidFill>
            <a:srgbClr val="F0F4F8"/>
          </a:solidFill>
          <a:ln w="254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178808" y="1234440"/>
            <a:ext cx="685800" cy="6858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536" y="1344168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64408" y="202996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355848" y="2487168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well-being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education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equality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water &amp; sanitation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poverty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310128" y="2487168"/>
            <a:ext cx="2423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well-being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education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equality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water &amp; sanitation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poverty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025896" y="1097280"/>
            <a:ext cx="2697480" cy="3749040"/>
          </a:xfrm>
          <a:prstGeom prst="roundRect">
            <a:avLst>
              <a:gd name="adj" fmla="val 4068"/>
            </a:avLst>
          </a:prstGeom>
          <a:solidFill>
            <a:srgbClr val="F0F4F8"/>
          </a:solidFill>
          <a:ln w="25400">
            <a:solidFill>
              <a:srgbClr val="0B7A4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031736" y="1234440"/>
            <a:ext cx="685800" cy="685800"/>
          </a:xfrm>
          <a:prstGeom prst="ellipse">
            <a:avLst/>
          </a:prstGeom>
          <a:solidFill>
            <a:srgbClr val="0B7A4E"/>
          </a:solidFill>
          <a:ln w="12700">
            <a:solidFill>
              <a:srgbClr val="0B7A4E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1464" y="1344168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17336" y="202996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208776" y="2487168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action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below water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on land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energy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consumption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163056" y="2487168"/>
            <a:ext cx="2423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action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below water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on land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energy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consumption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457200" y="4846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UN Brundtland Commission (1987) · World Bank SDG Framework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Sustainable Development Goals (SDGs) &amp; AI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78992"/>
            <a:ext cx="868680" cy="1024128"/>
          </a:xfrm>
          <a:prstGeom prst="roundRect">
            <a:avLst>
              <a:gd name="adj" fmla="val 7368"/>
            </a:avLst>
          </a:prstGeom>
          <a:solidFill>
            <a:srgbClr val="E5243B"/>
          </a:solidFill>
          <a:ln w="12700">
            <a:solidFill>
              <a:srgbClr val="E524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1481328"/>
            <a:ext cx="8686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Poverty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225296" y="1078992"/>
            <a:ext cx="868680" cy="1024128"/>
          </a:xfrm>
          <a:prstGeom prst="roundRect">
            <a:avLst>
              <a:gd name="adj" fmla="val 7368"/>
            </a:avLst>
          </a:prstGeom>
          <a:solidFill>
            <a:srgbClr val="DDA63A"/>
          </a:solidFill>
          <a:ln w="12700">
            <a:solidFill>
              <a:srgbClr val="DDA6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25296" y="109728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25296" y="1481328"/>
            <a:ext cx="8686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Hunger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176272" y="1078992"/>
            <a:ext cx="868680" cy="1024128"/>
          </a:xfrm>
          <a:prstGeom prst="roundRect">
            <a:avLst>
              <a:gd name="adj" fmla="val 7368"/>
            </a:avLst>
          </a:prstGeom>
          <a:solidFill>
            <a:srgbClr val="4C9F38"/>
          </a:solidFill>
          <a:ln w="12700">
            <a:solidFill>
              <a:srgbClr val="4C9F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76272" y="109728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176272" y="1481328"/>
            <a:ext cx="8686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Health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127248" y="1078992"/>
            <a:ext cx="868680" cy="1024128"/>
          </a:xfrm>
          <a:prstGeom prst="roundRect">
            <a:avLst>
              <a:gd name="adj" fmla="val 7368"/>
            </a:avLst>
          </a:prstGeom>
          <a:solidFill>
            <a:srgbClr val="C5192D"/>
          </a:solidFill>
          <a:ln w="12700">
            <a:solidFill>
              <a:srgbClr val="C519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27248" y="109728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127248" y="1481328"/>
            <a:ext cx="8686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Education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078224" y="1078992"/>
            <a:ext cx="868680" cy="1024128"/>
          </a:xfrm>
          <a:prstGeom prst="roundRect">
            <a:avLst>
              <a:gd name="adj" fmla="val 7368"/>
            </a:avLst>
          </a:prstGeom>
          <a:solidFill>
            <a:srgbClr val="FF3A21"/>
          </a:solidFill>
          <a:ln w="12700">
            <a:solidFill>
              <a:srgbClr val="FF3A2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78224" y="109728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078224" y="1481328"/>
            <a:ext cx="8686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Equality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029200" y="1078992"/>
            <a:ext cx="868680" cy="1024128"/>
          </a:xfrm>
          <a:prstGeom prst="roundRect">
            <a:avLst>
              <a:gd name="adj" fmla="val 7368"/>
            </a:avLst>
          </a:prstGeom>
          <a:solidFill>
            <a:srgbClr val="26BDE2"/>
          </a:solidFill>
          <a:ln w="12700">
            <a:solidFill>
              <a:srgbClr val="26BD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109728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0" y="1481328"/>
            <a:ext cx="8686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Water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980176" y="1078992"/>
            <a:ext cx="868680" cy="1024128"/>
          </a:xfrm>
          <a:prstGeom prst="roundRect">
            <a:avLst>
              <a:gd name="adj" fmla="val 7368"/>
            </a:avLst>
          </a:prstGeom>
          <a:solidFill>
            <a:srgbClr val="FCC30B"/>
          </a:solidFill>
          <a:ln w="12700">
            <a:solidFill>
              <a:srgbClr val="FCC3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80176" y="109728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980176" y="1481328"/>
            <a:ext cx="8686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 Energy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931152" y="1078992"/>
            <a:ext cx="868680" cy="1024128"/>
          </a:xfrm>
          <a:prstGeom prst="roundRect">
            <a:avLst>
              <a:gd name="adj" fmla="val 7368"/>
            </a:avLst>
          </a:prstGeom>
          <a:solidFill>
            <a:srgbClr val="A21942"/>
          </a:solidFill>
          <a:ln w="12700">
            <a:solidFill>
              <a:srgbClr val="A219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31152" y="109728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31152" y="1481328"/>
            <a:ext cx="8686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 Work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882128" y="1078992"/>
            <a:ext cx="868680" cy="1024128"/>
          </a:xfrm>
          <a:prstGeom prst="roundRect">
            <a:avLst>
              <a:gd name="adj" fmla="val 7368"/>
            </a:avLst>
          </a:prstGeom>
          <a:solidFill>
            <a:srgbClr val="FD6925"/>
          </a:solidFill>
          <a:ln w="12700">
            <a:solidFill>
              <a:srgbClr val="FD692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82128" y="109728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882128" y="1481328"/>
            <a:ext cx="8686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&amp; Innovation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74320" y="2221992"/>
            <a:ext cx="868680" cy="1024128"/>
          </a:xfrm>
          <a:prstGeom prst="roundRect">
            <a:avLst>
              <a:gd name="adj" fmla="val 7368"/>
            </a:avLst>
          </a:prstGeom>
          <a:solidFill>
            <a:srgbClr val="DD1367"/>
          </a:solidFill>
          <a:ln w="12700">
            <a:solidFill>
              <a:srgbClr val="DD136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224028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274320" y="2624328"/>
            <a:ext cx="8686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Inequalities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1225296" y="2221992"/>
            <a:ext cx="868680" cy="1024128"/>
          </a:xfrm>
          <a:prstGeom prst="roundRect">
            <a:avLst>
              <a:gd name="adj" fmla="val 7368"/>
            </a:avLst>
          </a:prstGeom>
          <a:solidFill>
            <a:srgbClr val="FD9D24"/>
          </a:solidFill>
          <a:ln w="12700">
            <a:solidFill>
              <a:srgbClr val="FD9D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25296" y="224028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225296" y="2624328"/>
            <a:ext cx="8686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Cities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176272" y="2221992"/>
            <a:ext cx="868680" cy="1024128"/>
          </a:xfrm>
          <a:prstGeom prst="roundRect">
            <a:avLst>
              <a:gd name="adj" fmla="val 7368"/>
            </a:avLst>
          </a:prstGeom>
          <a:solidFill>
            <a:srgbClr val="BF8B2E"/>
          </a:solidFill>
          <a:ln w="12700">
            <a:solidFill>
              <a:srgbClr val="BF8B2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76272" y="224028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2176272" y="2624328"/>
            <a:ext cx="8686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Consumption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127248" y="2221992"/>
            <a:ext cx="868680" cy="1024128"/>
          </a:xfrm>
          <a:prstGeom prst="roundRect">
            <a:avLst>
              <a:gd name="adj" fmla="val 7368"/>
            </a:avLst>
          </a:prstGeom>
          <a:solidFill>
            <a:srgbClr val="3F7E44"/>
          </a:solidFill>
          <a:ln w="12700">
            <a:solidFill>
              <a:srgbClr val="3F7E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127248" y="224028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3127248" y="2624328"/>
            <a:ext cx="8686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Action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078224" y="2221992"/>
            <a:ext cx="868680" cy="1024128"/>
          </a:xfrm>
          <a:prstGeom prst="roundRect">
            <a:avLst>
              <a:gd name="adj" fmla="val 7368"/>
            </a:avLst>
          </a:prstGeom>
          <a:solidFill>
            <a:srgbClr val="0A97D9"/>
          </a:solidFill>
          <a:ln w="12700">
            <a:solidFill>
              <a:srgbClr val="0A97D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078224" y="224028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078224" y="2624328"/>
            <a:ext cx="8686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Below Water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5029200" y="2221992"/>
            <a:ext cx="868680" cy="1024128"/>
          </a:xfrm>
          <a:prstGeom prst="roundRect">
            <a:avLst>
              <a:gd name="adj" fmla="val 7368"/>
            </a:avLst>
          </a:prstGeom>
          <a:solidFill>
            <a:srgbClr val="56C02B"/>
          </a:solidFill>
          <a:ln w="12700">
            <a:solidFill>
              <a:srgbClr val="56C02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0" y="224028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029200" y="2624328"/>
            <a:ext cx="8686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on Land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5980176" y="2221992"/>
            <a:ext cx="868680" cy="1024128"/>
          </a:xfrm>
          <a:prstGeom prst="roundRect">
            <a:avLst>
              <a:gd name="adj" fmla="val 7368"/>
            </a:avLst>
          </a:prstGeom>
          <a:solidFill>
            <a:srgbClr val="00689D"/>
          </a:solidFill>
          <a:ln w="12700">
            <a:solidFill>
              <a:srgbClr val="00689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80176" y="224028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5980176" y="2624328"/>
            <a:ext cx="8686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Peace &amp; Justice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6931152" y="2221992"/>
            <a:ext cx="868680" cy="1024128"/>
          </a:xfrm>
          <a:prstGeom prst="roundRect">
            <a:avLst>
              <a:gd name="adj" fmla="val 7368"/>
            </a:avLst>
          </a:prstGeom>
          <a:solidFill>
            <a:srgbClr val="19486A"/>
          </a:solidFill>
          <a:ln w="12700">
            <a:solidFill>
              <a:srgbClr val="19486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931152" y="224028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931152" y="2624328"/>
            <a:ext cx="8686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274320" y="3383280"/>
            <a:ext cx="8595360" cy="685800"/>
          </a:xfrm>
          <a:prstGeom prst="roundRect">
            <a:avLst>
              <a:gd name="adj" fmla="val 13333"/>
            </a:avLst>
          </a:prstGeom>
          <a:solidFill>
            <a:srgbClr val="0B7A4E"/>
          </a:solidFill>
          <a:ln w="12700">
            <a:solidFill>
              <a:srgbClr val="0B7A4E"/>
            </a:solidFill>
            <a:prstDash val="solid"/>
          </a:ln>
        </p:spPr>
      </p:sp>
      <p:pic>
        <p:nvPicPr>
          <p:cNvPr id="5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493008"/>
            <a:ext cx="457200" cy="457200"/>
          </a:xfrm>
          <a:prstGeom prst="rect">
            <a:avLst/>
          </a:prstGeom>
        </p:spPr>
      </p:pic>
      <p:sp>
        <p:nvSpPr>
          <p:cNvPr id="57" name="Text 54"/>
          <p:cNvSpPr/>
          <p:nvPr/>
        </p:nvSpPr>
        <p:spPr>
          <a:xfrm>
            <a:off x="1005840" y="3456432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directly accelerates: SDG 2 (precision farming) · SDG 3 (medical AI) · SDG 7 (smart grids) · SDG 11 (smart cities) · SDG 13 (climate modeling) · SDG 15 (forest monitoring)</a:t>
            </a:r>
            <a:endParaRPr lang="en-US" sz="1050" dirty="0"/>
          </a:p>
        </p:txBody>
      </p:sp>
      <p:sp>
        <p:nvSpPr>
          <p:cNvPr id="58" name="Text 55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United Nations Department of Economic and Social Affairs (UNDESA)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Enables Sustainable Development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AI-to-Impact Value Chain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1A3A5C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0" y="1325880"/>
            <a:ext cx="594360" cy="5943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5608" y="138988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38912" y="19842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Models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235915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ML, DL, NLP, CV algorithms trained on domain data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990088" y="1938528"/>
            <a:ext cx="182880" cy="201168"/>
          </a:xfrm>
          <a:prstGeom prst="rect">
            <a:avLst/>
          </a:prstGeom>
          <a:solidFill>
            <a:srgbClr val="0E9A62"/>
          </a:solidFill>
          <a:ln w="12700">
            <a:solidFill>
              <a:srgbClr val="0E9A6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00400" y="118872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1A3A5C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06240" y="1325880"/>
            <a:ext cx="594360" cy="5943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248" y="1389888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73552" y="19842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291840" y="235915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Satellites, IoT sensors, medical records, climate feeds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824728" y="1938528"/>
            <a:ext cx="182880" cy="201168"/>
          </a:xfrm>
          <a:prstGeom prst="rect">
            <a:avLst/>
          </a:prstGeom>
          <a:solidFill>
            <a:srgbClr val="0E9A62"/>
          </a:solidFill>
          <a:ln w="12700">
            <a:solidFill>
              <a:srgbClr val="0E9A6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035040" y="118872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1A3A5C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040880" y="1325880"/>
            <a:ext cx="594360" cy="5943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888" y="1389888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08192" y="19842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&amp; Insight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126480" y="235915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Forecasting, anomaly detection, pattern recognition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365760" y="310896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1A3A5C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1371600" y="3246120"/>
            <a:ext cx="594360" cy="5943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5608" y="3310128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38912" y="39044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57200" y="427939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systems, smart processes, robotic farming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2990088" y="3858768"/>
            <a:ext cx="182880" cy="201168"/>
          </a:xfrm>
          <a:prstGeom prst="rect">
            <a:avLst/>
          </a:prstGeom>
          <a:solidFill>
            <a:srgbClr val="0E9A62"/>
          </a:solidFill>
          <a:ln w="12700">
            <a:solidFill>
              <a:srgbClr val="0E9A62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3200400" y="310896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1A3A5C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4206240" y="3246120"/>
            <a:ext cx="594360" cy="5943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0248" y="3310128"/>
            <a:ext cx="457200" cy="45720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273552" y="39044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3291840" y="427939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Dashboards, alerts, policy recommendations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5824728" y="3858768"/>
            <a:ext cx="182880" cy="201168"/>
          </a:xfrm>
          <a:prstGeom prst="rect">
            <a:avLst/>
          </a:prstGeom>
          <a:solidFill>
            <a:srgbClr val="0E9A62"/>
          </a:solidFill>
          <a:ln w="12700">
            <a:solidFill>
              <a:srgbClr val="0E9A62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6035040" y="310896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1A3A5C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7040880" y="3246120"/>
            <a:ext cx="594360" cy="5943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4888" y="3310128"/>
            <a:ext cx="457200" cy="45720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108192" y="39044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Impact</a:t>
            </a:r>
            <a:endParaRPr lang="en-US" sz="1300" dirty="0"/>
          </a:p>
        </p:txBody>
      </p:sp>
      <p:sp>
        <p:nvSpPr>
          <p:cNvPr id="37" name="Text 29"/>
          <p:cNvSpPr/>
          <p:nvPr/>
        </p:nvSpPr>
        <p:spPr>
          <a:xfrm>
            <a:off x="6126480" y="427939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emissions, improved health, efficient resources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7A4E"/>
          </a:solidFill>
          <a:ln w="12700">
            <a:solidFill>
              <a:srgbClr val="0B7A4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828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Agriculture  |  Focus: India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20040" y="1051560"/>
            <a:ext cx="5029200" cy="694944"/>
          </a:xfrm>
          <a:prstGeom prst="roundRect">
            <a:avLst>
              <a:gd name="adj" fmla="val 10526"/>
            </a:avLst>
          </a:prstGeom>
          <a:solidFill>
            <a:srgbClr val="F0F4F8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107899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Farming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02920" y="1335024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sensors monitor soil pH, moisture, and crop health in real-time to optimize inputs.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0040" y="1819656"/>
            <a:ext cx="502920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84708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Disease Detection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210312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models identify diseases from drone/smartphone images with 90%+ accuracy.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0040" y="2587752"/>
            <a:ext cx="5029200" cy="694944"/>
          </a:xfrm>
          <a:prstGeom prst="roundRect">
            <a:avLst>
              <a:gd name="adj" fmla="val 10526"/>
            </a:avLst>
          </a:prstGeom>
          <a:solidFill>
            <a:srgbClr val="F0F4F8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261518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Irrigation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02920" y="2871216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predicts water needs reducing water usage by up to 30% (Microsoft FarmBeats).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0040" y="3355848"/>
            <a:ext cx="502920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" y="33832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Monitoring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02920" y="363931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maps soil nutrient levels guiding fertilizer application.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20040" y="4123944"/>
            <a:ext cx="5029200" cy="694944"/>
          </a:xfrm>
          <a:prstGeom prst="roundRect">
            <a:avLst>
              <a:gd name="adj" fmla="val 10526"/>
            </a:avLst>
          </a:prstGeom>
          <a:solidFill>
            <a:srgbClr val="F0F4F8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415137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Prediction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02920" y="4407408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models provide hyper-local forecasts enabling crop risk management.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532120" y="1051560"/>
            <a:ext cx="3291840" cy="3794760"/>
          </a:xfrm>
          <a:prstGeom prst="roundRect">
            <a:avLst>
              <a:gd name="adj" fmla="val 3333"/>
            </a:avLst>
          </a:prstGeom>
          <a:solidFill>
            <a:srgbClr val="E8F5EE"/>
          </a:solidFill>
          <a:ln w="12700">
            <a:solidFill>
              <a:srgbClr val="0E9A6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5623560" y="1143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 Indian Examples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623560" y="1572768"/>
            <a:ext cx="3108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Agriculture Mission (DAM) – AI-driven advisory for 100M+ farmers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ICAR AI Platform – disease detection &amp; yield prediction research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 FarmBeats – soil sensors in Andhra Pradesh, Maharashtra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ICRISAT AI Sowing App – SMS advisory to smallholder farmers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Cropin – cloud + AI platform managing 15M+ acres across India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320040" y="489204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ICAR, MeitY, Microsoft Research India, World Bank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05C40"/>
          </a:solidFill>
          <a:ln w="12700">
            <a:solidFill>
              <a:srgbClr val="E05C4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828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Healthcare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20040" y="1078992"/>
            <a:ext cx="4023360" cy="1664208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29768" y="1216152"/>
            <a:ext cx="566928" cy="566928"/>
          </a:xfrm>
          <a:prstGeom prst="ellipse">
            <a:avLst/>
          </a:prstGeom>
          <a:solidFill>
            <a:srgbClr val="E05C40">
              <a:alpha val="80000"/>
            </a:srgbClr>
          </a:solidFill>
          <a:ln w="12700">
            <a:solidFill>
              <a:srgbClr val="E05C40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1271016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118872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Disease Detection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097280" y="1536192"/>
            <a:ext cx="3154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detects cancer, TB, diabetic retinopathy from X-rays and scans with accuracy matching specialists.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4572000" y="1078992"/>
            <a:ext cx="4023360" cy="1664208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681728" y="1216152"/>
            <a:ext cx="566928" cy="566928"/>
          </a:xfrm>
          <a:prstGeom prst="ellipse">
            <a:avLst/>
          </a:prstGeom>
          <a:solidFill>
            <a:srgbClr val="E05C40">
              <a:alpha val="80000"/>
            </a:srgbClr>
          </a:solidFill>
          <a:ln w="12700">
            <a:solidFill>
              <a:srgbClr val="E05C4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1271016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49240" y="118872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Imaging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5349240" y="1536192"/>
            <a:ext cx="3154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reads MRI, CT, ultrasound reports 40× faster. Used in Aravind Eye Hospitals, India.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320040" y="2907792"/>
            <a:ext cx="4023360" cy="1664208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29768" y="3044952"/>
            <a:ext cx="566928" cy="566928"/>
          </a:xfrm>
          <a:prstGeom prst="ellipse">
            <a:avLst/>
          </a:prstGeom>
          <a:solidFill>
            <a:srgbClr val="E05C40">
              <a:alpha val="80000"/>
            </a:srgbClr>
          </a:solidFill>
          <a:ln w="12700">
            <a:solidFill>
              <a:srgbClr val="E05C40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" y="3099816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97280" y="301752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Discovery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1097280" y="3364992"/>
            <a:ext cx="3154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reduces drug discovery timelines from 12 years to 4 years. Bharat Biotech uses AI-assisted research.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4572000" y="2907792"/>
            <a:ext cx="4023360" cy="1664208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681728" y="3044952"/>
            <a:ext cx="566928" cy="566928"/>
          </a:xfrm>
          <a:prstGeom prst="ellipse">
            <a:avLst/>
          </a:prstGeom>
          <a:solidFill>
            <a:srgbClr val="E05C40">
              <a:alpha val="80000"/>
            </a:srgbClr>
          </a:solidFill>
          <a:ln w="12700">
            <a:solidFill>
              <a:srgbClr val="E05C40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6592" y="3099816"/>
            <a:ext cx="457200" cy="4572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349240" y="301752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Telemedicine &amp; Rural Health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5349240" y="3364992"/>
            <a:ext cx="3154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triage and chatbots extend healthcare to India's 650,000 villages where doctor:patient ratio is 1:1500.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320040" y="4663440"/>
            <a:ext cx="8503920" cy="384048"/>
          </a:xfrm>
          <a:prstGeom prst="roundRect">
            <a:avLst>
              <a:gd name="adj" fmla="val 16667"/>
            </a:avLst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502920" y="469087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India: Ayushman Bharat Digital Mission · AIIMS AI Diagnostics · Niramai (breast cancer AI) · Wadhwani AI (TB detection) · Apollo Hospitals AI</a:t>
            </a:r>
            <a:endParaRPr lang="en-US" sz="950" dirty="0"/>
          </a:p>
        </p:txBody>
      </p:sp>
      <p:sp>
        <p:nvSpPr>
          <p:cNvPr id="27" name="Text 20"/>
          <p:cNvSpPr/>
          <p:nvPr/>
        </p:nvSpPr>
        <p:spPr>
          <a:xfrm>
            <a:off x="320040" y="5074920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MoHFW India, WHO, MIT Technology Review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828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Energy &amp; Renewable Resources</a:t>
            </a:r>
            <a:endParaRPr lang="en-US" sz="2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937760" y="1051560"/>
          <a:ext cx="38404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320040" y="1078992"/>
            <a:ext cx="4343400" cy="868680"/>
          </a:xfrm>
          <a:prstGeom prst="roundRect">
            <a:avLst>
              <a:gd name="adj" fmla="val 9474"/>
            </a:avLst>
          </a:prstGeom>
          <a:solidFill>
            <a:srgbClr val="1A3A5C"/>
          </a:solidFill>
          <a:ln w="10160">
            <a:solidFill>
              <a:srgbClr val="E8A020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438912" y="1188720"/>
            <a:ext cx="548640" cy="548640"/>
          </a:xfrm>
          <a:prstGeom prst="ellipse">
            <a:avLst/>
          </a:prstGeom>
          <a:solidFill>
            <a:srgbClr val="E8A020">
              <a:alpha val="70000"/>
            </a:srgbClr>
          </a:solidFill>
          <a:ln w="12700">
            <a:solidFill>
              <a:srgbClr val="E8A02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243584"/>
            <a:ext cx="438912" cy="43891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97280" y="111556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Energy Forecasting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1097280" y="1389888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predicts solar irradiance 24-72hrs ahead, optimizing grid dispatch. SECI uses AI models for India's solar parks.</a:t>
            </a:r>
            <a:endParaRPr lang="en-US" sz="950" dirty="0"/>
          </a:p>
        </p:txBody>
      </p:sp>
      <p:sp>
        <p:nvSpPr>
          <p:cNvPr id="11" name="Shape 6"/>
          <p:cNvSpPr/>
          <p:nvPr/>
        </p:nvSpPr>
        <p:spPr>
          <a:xfrm>
            <a:off x="320040" y="2039112"/>
            <a:ext cx="4343400" cy="868680"/>
          </a:xfrm>
          <a:prstGeom prst="roundRect">
            <a:avLst>
              <a:gd name="adj" fmla="val 9474"/>
            </a:avLst>
          </a:prstGeom>
          <a:solidFill>
            <a:srgbClr val="1A3A5C"/>
          </a:solidFill>
          <a:ln w="10160">
            <a:solidFill>
              <a:srgbClr val="E8A020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438912" y="2148840"/>
            <a:ext cx="548640" cy="548640"/>
          </a:xfrm>
          <a:prstGeom prst="ellipse">
            <a:avLst/>
          </a:prstGeom>
          <a:solidFill>
            <a:srgbClr val="E8A020">
              <a:alpha val="70000"/>
            </a:srgbClr>
          </a:solidFill>
          <a:ln w="12700">
            <a:solidFill>
              <a:srgbClr val="E8A02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" y="2203704"/>
            <a:ext cx="438912" cy="43891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97280" y="207568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Energy Prediction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1097280" y="2350008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algorithms reduce wind forecast error by 20%, enabling better integration with the national grid.</a:t>
            </a:r>
            <a:endParaRPr lang="en-US" sz="950" dirty="0"/>
          </a:p>
        </p:txBody>
      </p:sp>
      <p:sp>
        <p:nvSpPr>
          <p:cNvPr id="16" name="Shape 10"/>
          <p:cNvSpPr/>
          <p:nvPr/>
        </p:nvSpPr>
        <p:spPr>
          <a:xfrm>
            <a:off x="320040" y="2999232"/>
            <a:ext cx="4343400" cy="868680"/>
          </a:xfrm>
          <a:prstGeom prst="roundRect">
            <a:avLst>
              <a:gd name="adj" fmla="val 9474"/>
            </a:avLst>
          </a:prstGeom>
          <a:solidFill>
            <a:srgbClr val="1A3A5C"/>
          </a:solidFill>
          <a:ln w="10160">
            <a:solidFill>
              <a:srgbClr val="E8A020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438912" y="3108960"/>
            <a:ext cx="548640" cy="548640"/>
          </a:xfrm>
          <a:prstGeom prst="ellipse">
            <a:avLst/>
          </a:prstGeom>
          <a:solidFill>
            <a:srgbClr val="E8A020">
              <a:alpha val="70000"/>
            </a:srgbClr>
          </a:solidFill>
          <a:ln w="12700">
            <a:solidFill>
              <a:srgbClr val="E8A020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" y="3163824"/>
            <a:ext cx="438912" cy="43891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97280" y="303580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Grids &amp; Demand Forecasting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1097280" y="3310128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balances supply and demand in real-time, reducing outages. PGCIL's National Smart Grid Mission (NSGM).</a:t>
            </a:r>
            <a:endParaRPr lang="en-US" sz="950" dirty="0"/>
          </a:p>
        </p:txBody>
      </p:sp>
      <p:sp>
        <p:nvSpPr>
          <p:cNvPr id="21" name="Shape 14"/>
          <p:cNvSpPr/>
          <p:nvPr/>
        </p:nvSpPr>
        <p:spPr>
          <a:xfrm>
            <a:off x="320040" y="3959352"/>
            <a:ext cx="4343400" cy="868680"/>
          </a:xfrm>
          <a:prstGeom prst="roundRect">
            <a:avLst>
              <a:gd name="adj" fmla="val 9474"/>
            </a:avLst>
          </a:prstGeom>
          <a:solidFill>
            <a:srgbClr val="1A3A5C"/>
          </a:solidFill>
          <a:ln w="10160">
            <a:solidFill>
              <a:srgbClr val="E8A020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438912" y="4069080"/>
            <a:ext cx="548640" cy="548640"/>
          </a:xfrm>
          <a:prstGeom prst="ellipse">
            <a:avLst/>
          </a:prstGeom>
          <a:solidFill>
            <a:srgbClr val="E8A020">
              <a:alpha val="70000"/>
            </a:srgbClr>
          </a:solidFill>
          <a:ln w="12700">
            <a:solidFill>
              <a:srgbClr val="E8A020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" y="4123944"/>
            <a:ext cx="438912" cy="43891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097280" y="399592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Efficiency</a:t>
            </a:r>
            <a:endParaRPr lang="en-US" sz="1200" dirty="0"/>
          </a:p>
        </p:txBody>
      </p:sp>
      <p:sp>
        <p:nvSpPr>
          <p:cNvPr id="25" name="Text 17"/>
          <p:cNvSpPr/>
          <p:nvPr/>
        </p:nvSpPr>
        <p:spPr>
          <a:xfrm>
            <a:off x="1097280" y="4270248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DeepMind reduced data center cooling energy by 40% using reinforcement learning — similar models are being deployed in Indian facilities.</a:t>
            </a:r>
            <a:endParaRPr lang="en-US" sz="950" dirty="0"/>
          </a:p>
        </p:txBody>
      </p:sp>
      <p:sp>
        <p:nvSpPr>
          <p:cNvPr id="26" name="Text 18"/>
          <p:cNvSpPr/>
          <p:nvPr/>
        </p:nvSpPr>
        <p:spPr>
          <a:xfrm>
            <a:off x="320040" y="489204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SECI, IEA, Google DeepMind, Ministry of New &amp; Renewable Energy India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828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Climate Change &amp; Environment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20040" y="1078992"/>
            <a:ext cx="2697480" cy="1618488"/>
          </a:xfrm>
          <a:prstGeom prst="roundRect">
            <a:avLst>
              <a:gd name="adj" fmla="val 5650"/>
            </a:avLst>
          </a:prstGeom>
          <a:solidFill>
            <a:srgbClr val="F0F4F8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29768" y="1188720"/>
            <a:ext cx="530352" cy="5303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1243584"/>
            <a:ext cx="420624" cy="42062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69848" y="117043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Prediction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11480" y="178308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 predict flood zones 5–7 days in advance. IMD uses ML models for early warning in Assam, Kerala, and Odisha.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3172968" y="1078992"/>
            <a:ext cx="2697480" cy="1618488"/>
          </a:xfrm>
          <a:prstGeom prst="roundRect">
            <a:avLst>
              <a:gd name="adj" fmla="val 5650"/>
            </a:avLst>
          </a:prstGeom>
          <a:solidFill>
            <a:srgbClr val="F0F4F8"/>
          </a:solidFill>
          <a:ln w="19050">
            <a:solidFill>
              <a:srgbClr val="1A3A5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282696" y="1188720"/>
            <a:ext cx="530352" cy="530352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1243584"/>
            <a:ext cx="420624" cy="42062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922776" y="117043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Cyclone Forecasting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3264408" y="178308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IITM Pune &amp; IMD use deep learning to forecast cyclone intensity &amp; track 72hrs ahead with greater accuracy.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6025896" y="1078992"/>
            <a:ext cx="2697480" cy="1618488"/>
          </a:xfrm>
          <a:prstGeom prst="roundRect">
            <a:avLst>
              <a:gd name="adj" fmla="val 5650"/>
            </a:avLst>
          </a:prstGeom>
          <a:solidFill>
            <a:srgbClr val="F0F4F8"/>
          </a:solidFill>
          <a:ln w="19050">
            <a:solidFill>
              <a:srgbClr val="0B7A4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135624" y="1188720"/>
            <a:ext cx="530352" cy="530352"/>
          </a:xfrm>
          <a:prstGeom prst="ellipse">
            <a:avLst/>
          </a:prstGeom>
          <a:solidFill>
            <a:srgbClr val="0B7A4E"/>
          </a:solidFill>
          <a:ln w="12700">
            <a:solidFill>
              <a:srgbClr val="0B7A4E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0488" y="1243584"/>
            <a:ext cx="420624" cy="42062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775704" y="117043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Quality Monitoring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6117336" y="178308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CPCB and IIT Delhi deploy AI on pollution sensor networks for real-time AQI prediction across 300+ cities.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320040" y="2862072"/>
            <a:ext cx="2697480" cy="1618488"/>
          </a:xfrm>
          <a:prstGeom prst="roundRect">
            <a:avLst>
              <a:gd name="adj" fmla="val 5650"/>
            </a:avLst>
          </a:prstGeom>
          <a:solidFill>
            <a:srgbClr val="F0F4F8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29768" y="2971800"/>
            <a:ext cx="530352" cy="53035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" y="3026664"/>
            <a:ext cx="420624" cy="42062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069848" y="295351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Emission Analysis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411480" y="356616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imagery + AI tracks deforestation, industrial emissions, and transport carbon footprints globally.</a:t>
            </a:r>
            <a:endParaRPr lang="en-US" sz="950" dirty="0"/>
          </a:p>
        </p:txBody>
      </p:sp>
      <p:sp>
        <p:nvSpPr>
          <p:cNvPr id="25" name="Shape 18"/>
          <p:cNvSpPr/>
          <p:nvPr/>
        </p:nvSpPr>
        <p:spPr>
          <a:xfrm>
            <a:off x="3172968" y="2862072"/>
            <a:ext cx="2697480" cy="1618488"/>
          </a:xfrm>
          <a:prstGeom prst="roundRect">
            <a:avLst>
              <a:gd name="adj" fmla="val 5650"/>
            </a:avLst>
          </a:prstGeom>
          <a:solidFill>
            <a:srgbClr val="F0F4F8"/>
          </a:solidFill>
          <a:ln w="19050">
            <a:solidFill>
              <a:srgbClr val="0E9A6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3282696" y="2971800"/>
            <a:ext cx="530352" cy="530352"/>
          </a:xfrm>
          <a:prstGeom prst="ellipse">
            <a:avLst/>
          </a:prstGeom>
          <a:solidFill>
            <a:srgbClr val="0E9A62"/>
          </a:solidFill>
          <a:ln w="12700">
            <a:solidFill>
              <a:srgbClr val="0E9A62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7560" y="3026664"/>
            <a:ext cx="420624" cy="42062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922776" y="295351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&amp; Biodiversity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3264408" y="356616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ISRO's ISFR uses AI to map forest cover changes. Wildlife Institute of India uses AI for species monitoring.</a:t>
            </a:r>
            <a:endParaRPr lang="en-US" sz="950" dirty="0"/>
          </a:p>
        </p:txBody>
      </p:sp>
      <p:sp>
        <p:nvSpPr>
          <p:cNvPr id="30" name="Shape 22"/>
          <p:cNvSpPr/>
          <p:nvPr/>
        </p:nvSpPr>
        <p:spPr>
          <a:xfrm>
            <a:off x="6025896" y="2862072"/>
            <a:ext cx="2697480" cy="1618488"/>
          </a:xfrm>
          <a:prstGeom prst="roundRect">
            <a:avLst>
              <a:gd name="adj" fmla="val 5650"/>
            </a:avLst>
          </a:prstGeom>
          <a:solidFill>
            <a:srgbClr val="F0F4F8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6135624" y="2971800"/>
            <a:ext cx="530352" cy="5303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0488" y="3026664"/>
            <a:ext cx="420624" cy="42062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775704" y="295351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Modeling</a:t>
            </a:r>
            <a:endParaRPr lang="en-US" sz="1100" dirty="0"/>
          </a:p>
        </p:txBody>
      </p:sp>
      <p:sp>
        <p:nvSpPr>
          <p:cNvPr id="34" name="Text 25"/>
          <p:cNvSpPr/>
          <p:nvPr/>
        </p:nvSpPr>
        <p:spPr>
          <a:xfrm>
            <a:off x="6117336" y="356616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DeepMind's GraphCast and similar models produce 10-day weather forecasts in under 1 minute vs 6hrs for traditional models.</a:t>
            </a:r>
            <a:endParaRPr lang="en-US" sz="950" dirty="0"/>
          </a:p>
        </p:txBody>
      </p:sp>
      <p:sp>
        <p:nvSpPr>
          <p:cNvPr id="35" name="Text 26"/>
          <p:cNvSpPr/>
          <p:nvPr/>
        </p:nvSpPr>
        <p:spPr>
          <a:xfrm>
            <a:off x="320040" y="489204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IMD, ISRO, IITM Pune, CPCB, Google DeepMind, WMO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2D3EE">
              <a:alpha val="90000"/>
            </a:srgbClr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828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Smart Cities  |  India's Smart Cities Mission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320040" y="1078992"/>
            <a:ext cx="8503920" cy="731520"/>
          </a:xfrm>
          <a:prstGeom prst="roundRect">
            <a:avLst>
              <a:gd name="adj" fmla="val 11250"/>
            </a:avLst>
          </a:prstGeom>
          <a:solidFill>
            <a:srgbClr val="1A3A5C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75488" y="1170432"/>
            <a:ext cx="530352" cy="5303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225296"/>
            <a:ext cx="420624" cy="42062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43000" y="109728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Traffic Management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143000" y="1408176"/>
            <a:ext cx="7543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cameras adjust signal timing in real-time reducing urban congestion by 20-30%. Pilot in Pune, Bengaluru, Surat.</a:t>
            </a:r>
            <a:endParaRPr lang="en-US" sz="980" dirty="0"/>
          </a:p>
        </p:txBody>
      </p:sp>
      <p:sp>
        <p:nvSpPr>
          <p:cNvPr id="10" name="Shape 6"/>
          <p:cNvSpPr/>
          <p:nvPr/>
        </p:nvSpPr>
        <p:spPr>
          <a:xfrm>
            <a:off x="320040" y="1874520"/>
            <a:ext cx="8503920" cy="731520"/>
          </a:xfrm>
          <a:prstGeom prst="roundRect">
            <a:avLst>
              <a:gd name="adj" fmla="val 11250"/>
            </a:avLst>
          </a:prstGeom>
          <a:solidFill>
            <a:srgbClr val="152843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75488" y="1965960"/>
            <a:ext cx="530352" cy="5303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20824"/>
            <a:ext cx="420624" cy="42062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3000" y="189280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Management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1143000" y="2203704"/>
            <a:ext cx="7543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compactor routes and fill-sensor networks. Indore (India's cleanest city) uses sensor-IoT-AI integration.</a:t>
            </a:r>
            <a:endParaRPr lang="en-US" sz="980" dirty="0"/>
          </a:p>
        </p:txBody>
      </p:sp>
      <p:sp>
        <p:nvSpPr>
          <p:cNvPr id="15" name="Shape 10"/>
          <p:cNvSpPr/>
          <p:nvPr/>
        </p:nvSpPr>
        <p:spPr>
          <a:xfrm>
            <a:off x="320040" y="2670048"/>
            <a:ext cx="8503920" cy="731520"/>
          </a:xfrm>
          <a:prstGeom prst="roundRect">
            <a:avLst>
              <a:gd name="adj" fmla="val 11250"/>
            </a:avLst>
          </a:prstGeom>
          <a:solidFill>
            <a:srgbClr val="1A3A5C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75488" y="2761488"/>
            <a:ext cx="530352" cy="5303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2816352"/>
            <a:ext cx="420624" cy="42062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43000" y="268833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Management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1143000" y="2999232"/>
            <a:ext cx="7543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 detection via AI on pressure sensor data. BWSSB Bengaluru monitors a 9,000 km pipeline network.</a:t>
            </a:r>
            <a:endParaRPr lang="en-US" sz="980" dirty="0"/>
          </a:p>
        </p:txBody>
      </p:sp>
      <p:sp>
        <p:nvSpPr>
          <p:cNvPr id="20" name="Shape 14"/>
          <p:cNvSpPr/>
          <p:nvPr/>
        </p:nvSpPr>
        <p:spPr>
          <a:xfrm>
            <a:off x="320040" y="3465576"/>
            <a:ext cx="8503920" cy="731520"/>
          </a:xfrm>
          <a:prstGeom prst="roundRect">
            <a:avLst>
              <a:gd name="adj" fmla="val 11250"/>
            </a:avLst>
          </a:prstGeom>
          <a:solidFill>
            <a:srgbClr val="152843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475488" y="3557016"/>
            <a:ext cx="530352" cy="5303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611880"/>
            <a:ext cx="420624" cy="42062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143000" y="348386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Surveillance &amp; Safety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1143000" y="3794760"/>
            <a:ext cx="7543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facial recognition &amp; anomaly detection in public spaces. Deployed in 50+ Smart Cities across India.</a:t>
            </a:r>
            <a:endParaRPr lang="en-US" sz="980" dirty="0"/>
          </a:p>
        </p:txBody>
      </p:sp>
      <p:sp>
        <p:nvSpPr>
          <p:cNvPr id="25" name="Shape 18"/>
          <p:cNvSpPr/>
          <p:nvPr/>
        </p:nvSpPr>
        <p:spPr>
          <a:xfrm>
            <a:off x="320040" y="4261104"/>
            <a:ext cx="8503920" cy="731520"/>
          </a:xfrm>
          <a:prstGeom prst="roundRect">
            <a:avLst>
              <a:gd name="adj" fmla="val 11250"/>
            </a:avLst>
          </a:prstGeom>
          <a:solidFill>
            <a:srgbClr val="1A3A5C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475488" y="4352544"/>
            <a:ext cx="530352" cy="5303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" y="4407408"/>
            <a:ext cx="420624" cy="42062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143000" y="427939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 Lighting &amp; Energy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1143000" y="4590288"/>
            <a:ext cx="7543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ML-optimized street lighting cuts electricity usage by 40%. Deployed in Chandigarh and Amaravati.</a:t>
            </a:r>
            <a:endParaRPr lang="en-US" sz="980" dirty="0"/>
          </a:p>
        </p:txBody>
      </p:sp>
      <p:sp>
        <p:nvSpPr>
          <p:cNvPr id="30" name="Shape 22"/>
          <p:cNvSpPr/>
          <p:nvPr/>
        </p:nvSpPr>
        <p:spPr>
          <a:xfrm>
            <a:off x="320040" y="5047488"/>
            <a:ext cx="8503920" cy="320040"/>
          </a:xfrm>
          <a:prstGeom prst="roundRect">
            <a:avLst>
              <a:gd name="adj" fmla="val 17143"/>
            </a:avLst>
          </a:prstGeom>
          <a:solidFill>
            <a:srgbClr val="0B7A4E"/>
          </a:solidFill>
          <a:ln w="12700">
            <a:solidFill>
              <a:srgbClr val="0B7A4E"/>
            </a:solidFill>
            <a:prstDash val="solid"/>
          </a:ln>
        </p:spPr>
      </p:sp>
      <p:sp>
        <p:nvSpPr>
          <p:cNvPr id="31" name="Text 23"/>
          <p:cNvSpPr/>
          <p:nvPr/>
        </p:nvSpPr>
        <p:spPr>
          <a:xfrm>
            <a:off x="457200" y="50657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Smart Cities Mission (India) · Star cities: Bengaluru · Indore · Surat · Pune · Ahmedabad · Bhopal  |  Source: MoHUA, Smart Cities Council India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828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Education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20040" y="1078992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11480" y="1170432"/>
            <a:ext cx="2514600" cy="475488"/>
          </a:xfrm>
          <a:prstGeom prst="roundRect">
            <a:avLst>
              <a:gd name="adj" fmla="val 13462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1207008"/>
            <a:ext cx="402336" cy="40233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78408" y="120700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Learning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29768" y="1719072"/>
            <a:ext cx="248716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adapts content difficulty and pace to each student. Platforms like Khan Academy AI, BYJU's, and Vedantu use this in India.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172968" y="1078992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264408" y="1170432"/>
            <a:ext cx="2514600" cy="475488"/>
          </a:xfrm>
          <a:prstGeom prst="roundRect">
            <a:avLst>
              <a:gd name="adj" fmla="val 13462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1207008"/>
            <a:ext cx="402336" cy="40233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831336" y="120700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Tutors &amp; Chatbots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3282696" y="1719072"/>
            <a:ext cx="248716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tutors answer student queries 24/7. NIT Trichy and IIT Bombay use AI chatbots for student support.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6025896" y="1078992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0B7A4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117336" y="1170432"/>
            <a:ext cx="2514600" cy="475488"/>
          </a:xfrm>
          <a:prstGeom prst="roundRect">
            <a:avLst>
              <a:gd name="adj" fmla="val 13462"/>
            </a:avLst>
          </a:prstGeom>
          <a:solidFill>
            <a:srgbClr val="0B7A4E"/>
          </a:solidFill>
          <a:ln w="12700">
            <a:solidFill>
              <a:srgbClr val="0B7A4E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0488" y="1207008"/>
            <a:ext cx="402336" cy="40233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684264" y="120700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Translation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6135624" y="1719072"/>
            <a:ext cx="248716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translates educational content into 22 Indian languages enabling regional language learners to access quality education.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20040" y="2999232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E05C4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11480" y="3090672"/>
            <a:ext cx="2514600" cy="475488"/>
          </a:xfrm>
          <a:prstGeom prst="roundRect">
            <a:avLst>
              <a:gd name="adj" fmla="val 13462"/>
            </a:avLst>
          </a:prstGeom>
          <a:solidFill>
            <a:srgbClr val="E05C40"/>
          </a:solidFill>
          <a:ln w="12700">
            <a:solidFill>
              <a:srgbClr val="E05C40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" y="3127248"/>
            <a:ext cx="402336" cy="40233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78408" y="312724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&amp; Inclusion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429768" y="3639312"/>
            <a:ext cx="248716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speech-to-text and text-to-speech tools support differently-abled learners. NIEPID and NIMHANS pilot programs.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3172968" y="2999232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E8A02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3264408" y="3090672"/>
            <a:ext cx="2514600" cy="475488"/>
          </a:xfrm>
          <a:prstGeom prst="roundRect">
            <a:avLst>
              <a:gd name="adj" fmla="val 13462"/>
            </a:avLst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7560" y="3127248"/>
            <a:ext cx="402336" cy="40233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831336" y="312724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Development &amp; Assessment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3282696" y="3639312"/>
            <a:ext cx="248716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assessments identify skill gaps and recommend learning paths. PM Skill India and NSDC integrate AI analytics.</a:t>
            </a:r>
            <a:endParaRPr lang="en-US" sz="1000" dirty="0"/>
          </a:p>
        </p:txBody>
      </p:sp>
      <p:sp>
        <p:nvSpPr>
          <p:cNvPr id="30" name="Text 22"/>
          <p:cNvSpPr/>
          <p:nvPr/>
        </p:nvSpPr>
        <p:spPr>
          <a:xfrm>
            <a:off x="320040" y="489204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DIKSHA Platform (250M+ users)  ·  SWAYAM MOOCs  ·  NPTEL AI Courses  ·  Skill India Digital Hub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7A4E"/>
          </a:solidFill>
          <a:ln w="12700">
            <a:solidFill>
              <a:srgbClr val="0B7A4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828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of AI for Sustainable Development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1051560"/>
          <a:ext cx="34747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4069080" y="1078992"/>
            <a:ext cx="4754880" cy="868680"/>
          </a:xfrm>
          <a:prstGeom prst="roundRect">
            <a:avLst>
              <a:gd name="adj" fmla="val 9474"/>
            </a:avLst>
          </a:prstGeom>
          <a:solidFill>
            <a:srgbClr val="F0F4F8"/>
          </a:solidFill>
          <a:ln w="19050">
            <a:solidFill>
              <a:srgbClr val="0B7A4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4187952" y="1188720"/>
            <a:ext cx="594360" cy="594360"/>
          </a:xfrm>
          <a:prstGeom prst="ellipse">
            <a:avLst/>
          </a:prstGeom>
          <a:solidFill>
            <a:srgbClr val="0B7A4E"/>
          </a:solidFill>
          <a:ln w="12700">
            <a:solidFill>
              <a:srgbClr val="0B7A4E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2816" y="1243584"/>
            <a:ext cx="475488" cy="47548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892040" y="115214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3.5×</a:t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5943600" y="1133856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Decision Making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5943600" y="1481328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data analysis enabling real-time policy decisions</a:t>
            </a:r>
            <a:endParaRPr lang="en-US" sz="950" dirty="0"/>
          </a:p>
        </p:txBody>
      </p:sp>
      <p:sp>
        <p:nvSpPr>
          <p:cNvPr id="12" name="Shape 7"/>
          <p:cNvSpPr/>
          <p:nvPr/>
        </p:nvSpPr>
        <p:spPr>
          <a:xfrm>
            <a:off x="4069080" y="2057400"/>
            <a:ext cx="4754880" cy="868680"/>
          </a:xfrm>
          <a:prstGeom prst="roundRect">
            <a:avLst>
              <a:gd name="adj" fmla="val 9474"/>
            </a:avLst>
          </a:prstGeom>
          <a:solidFill>
            <a:srgbClr val="F0F4F8"/>
          </a:solidFill>
          <a:ln w="19050">
            <a:solidFill>
              <a:srgbClr val="E8A02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4187952" y="2167128"/>
            <a:ext cx="594360" cy="59436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2816" y="2221992"/>
            <a:ext cx="475488" cy="47548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892040" y="213055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2200" dirty="0"/>
          </a:p>
        </p:txBody>
      </p:sp>
      <p:sp>
        <p:nvSpPr>
          <p:cNvPr id="16" name="Text 10"/>
          <p:cNvSpPr/>
          <p:nvPr/>
        </p:nvSpPr>
        <p:spPr>
          <a:xfrm>
            <a:off x="5943600" y="2112264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Efficiency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5943600" y="2459736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operational costs via AI automation</a:t>
            </a:r>
            <a:endParaRPr lang="en-US" sz="950" dirty="0"/>
          </a:p>
        </p:txBody>
      </p:sp>
      <p:sp>
        <p:nvSpPr>
          <p:cNvPr id="18" name="Shape 12"/>
          <p:cNvSpPr/>
          <p:nvPr/>
        </p:nvSpPr>
        <p:spPr>
          <a:xfrm>
            <a:off x="4069080" y="3035808"/>
            <a:ext cx="4754880" cy="868680"/>
          </a:xfrm>
          <a:prstGeom prst="roundRect">
            <a:avLst>
              <a:gd name="adj" fmla="val 9474"/>
            </a:avLst>
          </a:prstGeom>
          <a:solidFill>
            <a:srgbClr val="F0F4F8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4187952" y="3145536"/>
            <a:ext cx="594360" cy="5943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2816" y="3200400"/>
            <a:ext cx="475488" cy="47548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892040" y="31089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2200" dirty="0"/>
          </a:p>
        </p:txBody>
      </p:sp>
      <p:sp>
        <p:nvSpPr>
          <p:cNvPr id="22" name="Text 15"/>
          <p:cNvSpPr/>
          <p:nvPr/>
        </p:nvSpPr>
        <p:spPr>
          <a:xfrm>
            <a:off x="5943600" y="3090672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Optimization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5943600" y="3438144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water &amp; energy waste through smart systems</a:t>
            </a:r>
            <a:endParaRPr lang="en-US" sz="950" dirty="0"/>
          </a:p>
        </p:txBody>
      </p:sp>
      <p:sp>
        <p:nvSpPr>
          <p:cNvPr id="24" name="Shape 17"/>
          <p:cNvSpPr/>
          <p:nvPr/>
        </p:nvSpPr>
        <p:spPr>
          <a:xfrm>
            <a:off x="4069080" y="4014216"/>
            <a:ext cx="4754880" cy="868680"/>
          </a:xfrm>
          <a:prstGeom prst="roundRect">
            <a:avLst>
              <a:gd name="adj" fmla="val 9474"/>
            </a:avLst>
          </a:prstGeom>
          <a:solidFill>
            <a:srgbClr val="F0F4F8"/>
          </a:solidFill>
          <a:ln w="19050">
            <a:solidFill>
              <a:srgbClr val="0E9A6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4187952" y="4123944"/>
            <a:ext cx="594360" cy="594360"/>
          </a:xfrm>
          <a:prstGeom prst="ellipse">
            <a:avLst/>
          </a:prstGeom>
          <a:solidFill>
            <a:srgbClr val="0E9A62"/>
          </a:solidFill>
          <a:ln w="12700">
            <a:solidFill>
              <a:srgbClr val="0E9A62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42816" y="4178808"/>
            <a:ext cx="475488" cy="47548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4892040" y="408736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9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 Gt</a:t>
            </a:r>
            <a:endParaRPr lang="en-US" sz="2200" dirty="0"/>
          </a:p>
        </p:txBody>
      </p:sp>
      <p:sp>
        <p:nvSpPr>
          <p:cNvPr id="28" name="Text 20"/>
          <p:cNvSpPr/>
          <p:nvPr/>
        </p:nvSpPr>
        <p:spPr>
          <a:xfrm>
            <a:off x="5943600" y="4069080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Emissions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5943600" y="441655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reduction potential annually by 2030 (WEF estimate)</a:t>
            </a:r>
            <a:endParaRPr lang="en-US" sz="950" dirty="0"/>
          </a:p>
        </p:txBody>
      </p:sp>
      <p:sp>
        <p:nvSpPr>
          <p:cNvPr id="30" name="Text 22"/>
          <p:cNvSpPr/>
          <p:nvPr/>
        </p:nvSpPr>
        <p:spPr>
          <a:xfrm>
            <a:off x="320040" y="4919472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WEF, McKinsey Global Institute, NITI Aayog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05C40"/>
          </a:solidFill>
          <a:ln w="12700">
            <a:solidFill>
              <a:srgbClr val="E05C4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828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Ethical Issues in AI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20040" y="1078992"/>
            <a:ext cx="269748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19050">
            <a:solidFill>
              <a:srgbClr val="E05C4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29768" y="1188720"/>
            <a:ext cx="548640" cy="548640"/>
          </a:xfrm>
          <a:prstGeom prst="ellipse">
            <a:avLst/>
          </a:prstGeom>
          <a:solidFill>
            <a:srgbClr val="E05C40">
              <a:alpha val="80000"/>
            </a:srgbClr>
          </a:solidFill>
          <a:ln w="12700">
            <a:solidFill>
              <a:srgbClr val="E05C40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1243584"/>
            <a:ext cx="438912" cy="4389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117043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&amp; Security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11480" y="1792224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systems collect vast personal data. PDPB 2023 (India) and GDPR (EU) regulate this, but enforcement gaps remain.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3172968" y="1078992"/>
            <a:ext cx="269748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19050">
            <a:solidFill>
              <a:srgbClr val="E8A02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282696" y="1188720"/>
            <a:ext cx="548640" cy="548640"/>
          </a:xfrm>
          <a:prstGeom prst="ellipse">
            <a:avLst/>
          </a:prstGeom>
          <a:solidFill>
            <a:srgbClr val="E8A020">
              <a:alpha val="80000"/>
            </a:srgbClr>
          </a:solidFill>
          <a:ln w="12700">
            <a:solidFill>
              <a:srgbClr val="E8A02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1243584"/>
            <a:ext cx="438912" cy="4389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950208" y="117043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Bias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3264408" y="1792224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trained on biased data can perpetuate discrimination in hiring, lending, and healthcare. Diverse datasets are critical.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6025896" y="1078992"/>
            <a:ext cx="269748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135624" y="1188720"/>
            <a:ext cx="548640" cy="548640"/>
          </a:xfrm>
          <a:prstGeom prst="ellipse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0488" y="1243584"/>
            <a:ext cx="438912" cy="43891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03136" y="117043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Divide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6117336" y="1792224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India has 400M unconnected people. AI benefits risk being concentrated in urban, educated populations.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320040" y="2862072"/>
            <a:ext cx="269748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29768" y="2971800"/>
            <a:ext cx="548640" cy="548640"/>
          </a:xfrm>
          <a:prstGeom prst="ellipse">
            <a:avLst/>
          </a:prstGeom>
          <a:solidFill>
            <a:srgbClr val="6366F1">
              <a:alpha val="80000"/>
            </a:srgbClr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" y="3026664"/>
            <a:ext cx="438912" cy="43891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097280" y="295351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Risks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411480" y="3575304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systems are targets for adversarial attacks and data poisoning. Critical infrastructure AI is especially vulnerable.</a:t>
            </a:r>
            <a:endParaRPr lang="en-US" sz="950" dirty="0"/>
          </a:p>
        </p:txBody>
      </p:sp>
      <p:sp>
        <p:nvSpPr>
          <p:cNvPr id="25" name="Shape 18"/>
          <p:cNvSpPr/>
          <p:nvPr/>
        </p:nvSpPr>
        <p:spPr>
          <a:xfrm>
            <a:off x="3172968" y="2862072"/>
            <a:ext cx="269748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19050">
            <a:solidFill>
              <a:srgbClr val="E8A02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3282696" y="2971800"/>
            <a:ext cx="548640" cy="548640"/>
          </a:xfrm>
          <a:prstGeom prst="ellipse">
            <a:avLst/>
          </a:prstGeom>
          <a:solidFill>
            <a:srgbClr val="E8A020">
              <a:alpha val="80000"/>
            </a:srgbClr>
          </a:solidFill>
          <a:ln w="12700">
            <a:solidFill>
              <a:srgbClr val="E8A020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7560" y="3026664"/>
            <a:ext cx="438912" cy="43891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950208" y="295351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Consumption of AI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3264408" y="3575304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large AI models emits as much CO₂ as 5 cars over a lifetime. Green AI and efficient hardware are priorities.</a:t>
            </a:r>
            <a:endParaRPr lang="en-US" sz="950" dirty="0"/>
          </a:p>
        </p:txBody>
      </p:sp>
      <p:sp>
        <p:nvSpPr>
          <p:cNvPr id="30" name="Shape 22"/>
          <p:cNvSpPr/>
          <p:nvPr/>
        </p:nvSpPr>
        <p:spPr>
          <a:xfrm>
            <a:off x="6025896" y="2862072"/>
            <a:ext cx="269748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19050">
            <a:solidFill>
              <a:srgbClr val="0D2137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6135624" y="2971800"/>
            <a:ext cx="548640" cy="548640"/>
          </a:xfrm>
          <a:prstGeom prst="ellipse">
            <a:avLst/>
          </a:prstGeom>
          <a:solidFill>
            <a:srgbClr val="0D2137">
              <a:alpha val="80000"/>
            </a:srgbClr>
          </a:solidFill>
          <a:ln w="12700">
            <a:solidFill>
              <a:srgbClr val="0D2137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0488" y="3026664"/>
            <a:ext cx="438912" cy="438912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803136" y="295351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Displacement</a:t>
            </a:r>
            <a:endParaRPr lang="en-US" sz="1100" dirty="0"/>
          </a:p>
        </p:txBody>
      </p:sp>
      <p:sp>
        <p:nvSpPr>
          <p:cNvPr id="34" name="Text 25"/>
          <p:cNvSpPr/>
          <p:nvPr/>
        </p:nvSpPr>
        <p:spPr>
          <a:xfrm>
            <a:off x="6117336" y="3575304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WEF estimates AI will displace 85M jobs by 2025 while creating 97M new ones. Reskilling is urgent for India's workforce.</a:t>
            </a:r>
            <a:endParaRPr lang="en-US" sz="950" dirty="0"/>
          </a:p>
        </p:txBody>
      </p:sp>
      <p:sp>
        <p:nvSpPr>
          <p:cNvPr id="35" name="Text 26"/>
          <p:cNvSpPr/>
          <p:nvPr/>
        </p:nvSpPr>
        <p:spPr>
          <a:xfrm>
            <a:off x="320040" y="489204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WEF Future of Jobs 2023 · PDPB India 2023 · OECD AI Principles · AI Index Stanford 2024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828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Studies — India &amp; Global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20040" y="1078992"/>
            <a:ext cx="4187952" cy="1207008"/>
          </a:xfrm>
          <a:prstGeom prst="roundRect">
            <a:avLst>
              <a:gd name="adj" fmla="val 7576"/>
            </a:avLst>
          </a:prstGeom>
          <a:solidFill>
            <a:srgbClr val="1A3A5C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29768" y="11704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Microsoft AI for Earth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29768" y="1554480"/>
            <a:ext cx="3950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Granted $50M in AI cloud tools to 700+ organizations for climate, water, biodiversity, and agriculture projects globally.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727448" y="1078992"/>
            <a:ext cx="4187952" cy="1207008"/>
          </a:xfrm>
          <a:prstGeom prst="roundRect">
            <a:avLst>
              <a:gd name="adj" fmla="val 7576"/>
            </a:avLst>
          </a:prstGeom>
          <a:solidFill>
            <a:srgbClr val="1A3A5C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837176" y="11704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Google DeepMind AlphaFold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837176" y="1554480"/>
            <a:ext cx="3950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structures of 200M+ proteins, accelerating vaccine and drug research. Applied in India's IISc Bangalore.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0040" y="2432304"/>
            <a:ext cx="4187952" cy="1207008"/>
          </a:xfrm>
          <a:prstGeom prst="roundRect">
            <a:avLst>
              <a:gd name="adj" fmla="val 7576"/>
            </a:avLst>
          </a:prstGeom>
          <a:solidFill>
            <a:srgbClr val="1A3A5C"/>
          </a:solidFill>
          <a:ln w="12700">
            <a:solidFill>
              <a:srgbClr val="E8A02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29768" y="252374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Google DeepMind Energy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29768" y="2907792"/>
            <a:ext cx="3950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data center cooling energy by 40% using reinforcement learning — replicated at Hyderabad &amp; Mumbai DCs.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727448" y="2432304"/>
            <a:ext cx="4187952" cy="1207008"/>
          </a:xfrm>
          <a:prstGeom prst="roundRect">
            <a:avLst>
              <a:gd name="adj" fmla="val 7576"/>
            </a:avLst>
          </a:prstGeom>
          <a:solidFill>
            <a:srgbClr val="1A3A5C"/>
          </a:solidFill>
          <a:ln w="12700">
            <a:solidFill>
              <a:srgbClr val="0E9A6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837176" y="252374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 ISRO Bhuvan &amp; AI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837176" y="2907792"/>
            <a:ext cx="3950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AI for disaster mapping, crop area estimation, and forest fire detection covering India's 3.28M km² territory.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20040" y="3785616"/>
            <a:ext cx="4187952" cy="1207008"/>
          </a:xfrm>
          <a:prstGeom prst="roundRect">
            <a:avLst>
              <a:gd name="adj" fmla="val 7576"/>
            </a:avLst>
          </a:prstGeom>
          <a:solidFill>
            <a:srgbClr val="1A3A5C"/>
          </a:solidFill>
          <a:ln w="12700">
            <a:solidFill>
              <a:srgbClr val="E05C4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29768" y="387705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5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 NITI Aayog NAIP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29768" y="4261104"/>
            <a:ext cx="3950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AI Program focuses on healthcare, agriculture, smart cities, education, and smart mobility across all 28 states.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727448" y="3785616"/>
            <a:ext cx="4187952" cy="1207008"/>
          </a:xfrm>
          <a:prstGeom prst="roundRect">
            <a:avLst>
              <a:gd name="adj" fmla="val 7576"/>
            </a:avLst>
          </a:prstGeom>
          <a:solidFill>
            <a:srgbClr val="1A3A5C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837176" y="387705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 TCS AI for Sustainability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837176" y="4261104"/>
            <a:ext cx="3950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 developed AI tools for real-time carbon tracking and ESG reporting deployed in 100+ global enterprises.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320040" y="4919472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Microsoft, Google DeepMind, ISRO, NITI Aayog, TCS Sustainability Reports 2024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of AI for Sustainable Development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Trends Shaping the Next Decade (2025–2035)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2029968"/>
            <a:ext cx="82296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" y="1828800"/>
            <a:ext cx="457200" cy="457200"/>
          </a:xfrm>
          <a:prstGeom prst="ellipse">
            <a:avLst/>
          </a:prstGeom>
          <a:solidFill>
            <a:srgbClr val="0B7A4E"/>
          </a:solidFill>
          <a:ln w="12700">
            <a:solidFill>
              <a:srgbClr val="0B7A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48132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2395728"/>
            <a:ext cx="1527048" cy="2395728"/>
          </a:xfrm>
          <a:prstGeom prst="roundRect">
            <a:avLst>
              <a:gd name="adj" fmla="val 5988"/>
            </a:avLst>
          </a:prstGeom>
          <a:solidFill>
            <a:srgbClr val="1A3A5C"/>
          </a:solidFill>
          <a:ln w="12700">
            <a:solidFill>
              <a:srgbClr val="0B7A4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2514600"/>
            <a:ext cx="594360" cy="594360"/>
          </a:xfrm>
          <a:prstGeom prst="ellipse">
            <a:avLst/>
          </a:prstGeom>
          <a:solidFill>
            <a:srgbClr val="0B7A4E">
              <a:alpha val="75000"/>
            </a:srgbClr>
          </a:solidFill>
          <a:ln w="12700">
            <a:solidFill>
              <a:srgbClr val="0B7A4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749808"/>
            <a:ext cx="914400" cy="914400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578608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0352" y="318211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AI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30352" y="3639312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Energy-efficient models, neuromorphic chips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2633472" y="1828800"/>
            <a:ext cx="457200" cy="4572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560320" y="148132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2167128" y="2395728"/>
            <a:ext cx="1527048" cy="2395728"/>
          </a:xfrm>
          <a:prstGeom prst="roundRect">
            <a:avLst>
              <a:gd name="adj" fmla="val 5988"/>
            </a:avLst>
          </a:prstGeom>
          <a:solidFill>
            <a:srgbClr val="1A3A5C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624328" y="2514600"/>
            <a:ext cx="594360" cy="594360"/>
          </a:xfrm>
          <a:prstGeom prst="ellipse">
            <a:avLst/>
          </a:prstGeom>
          <a:solidFill>
            <a:srgbClr val="6366F1">
              <a:alpha val="75000"/>
            </a:srgbClr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8336" y="749808"/>
            <a:ext cx="914400" cy="914400"/>
          </a:xfrm>
          <a:prstGeom prst="rect">
            <a:avLst/>
          </a:prstGeom>
        </p:spPr>
      </p:pic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8336" y="2578608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2194560" y="318211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2194560" y="3639312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co-design for sustainable infrastructure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4297680" y="1828800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4224528" y="148132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3831336" y="2395728"/>
            <a:ext cx="1527048" cy="2395728"/>
          </a:xfrm>
          <a:prstGeom prst="roundRect">
            <a:avLst>
              <a:gd name="adj" fmla="val 5988"/>
            </a:avLst>
          </a:prstGeom>
          <a:solidFill>
            <a:srgbClr val="1A3A5C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288536" y="2514600"/>
            <a:ext cx="594360" cy="594360"/>
          </a:xfrm>
          <a:prstGeom prst="ellipse">
            <a:avLst/>
          </a:prstGeom>
          <a:solidFill>
            <a:srgbClr val="0891B2">
              <a:alpha val="75000"/>
            </a:srgbClr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2544" y="749808"/>
            <a:ext cx="914400" cy="914400"/>
          </a:xfrm>
          <a:prstGeom prst="rect">
            <a:avLst/>
          </a:prstGeom>
        </p:spPr>
      </p:pic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2544" y="2578608"/>
            <a:ext cx="457200" cy="4572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858768" y="318211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3858768" y="3639312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AI regulation frameworks</a:t>
            </a:r>
            <a:endParaRPr lang="en-US" sz="950" dirty="0"/>
          </a:p>
        </p:txBody>
      </p:sp>
      <p:sp>
        <p:nvSpPr>
          <p:cNvPr id="29" name="Shape 21"/>
          <p:cNvSpPr/>
          <p:nvPr/>
        </p:nvSpPr>
        <p:spPr>
          <a:xfrm>
            <a:off x="5961888" y="1828800"/>
            <a:ext cx="457200" cy="45720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5888736" y="148132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5495544" y="2395728"/>
            <a:ext cx="1527048" cy="2395728"/>
          </a:xfrm>
          <a:prstGeom prst="roundRect">
            <a:avLst>
              <a:gd name="adj" fmla="val 5988"/>
            </a:avLst>
          </a:prstGeom>
          <a:solidFill>
            <a:srgbClr val="1A3A5C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5952744" y="2514600"/>
            <a:ext cx="594360" cy="594360"/>
          </a:xfrm>
          <a:prstGeom prst="ellipse">
            <a:avLst/>
          </a:prstGeom>
          <a:solidFill>
            <a:srgbClr val="E8A020">
              <a:alpha val="75000"/>
            </a:srgbClr>
          </a:solidFill>
          <a:ln w="12700">
            <a:solidFill>
              <a:srgbClr val="E8A020"/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16752" y="749808"/>
            <a:ext cx="914400" cy="914400"/>
          </a:xfrm>
          <a:prstGeom prst="rect">
            <a:avLst/>
          </a:prstGeom>
        </p:spPr>
      </p:pic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16752" y="2578608"/>
            <a:ext cx="457200" cy="45720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522976" y="318211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Twins</a:t>
            </a:r>
            <a:endParaRPr lang="en-US" sz="1100" dirty="0"/>
          </a:p>
        </p:txBody>
      </p:sp>
      <p:sp>
        <p:nvSpPr>
          <p:cNvPr id="36" name="Text 26"/>
          <p:cNvSpPr/>
          <p:nvPr/>
        </p:nvSpPr>
        <p:spPr>
          <a:xfrm>
            <a:off x="5522976" y="3639312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City-scale virtual replicas for planning</a:t>
            </a:r>
            <a:endParaRPr lang="en-US" sz="950" dirty="0"/>
          </a:p>
        </p:txBody>
      </p:sp>
      <p:sp>
        <p:nvSpPr>
          <p:cNvPr id="37" name="Shape 27"/>
          <p:cNvSpPr/>
          <p:nvPr/>
        </p:nvSpPr>
        <p:spPr>
          <a:xfrm>
            <a:off x="7626096" y="1828800"/>
            <a:ext cx="457200" cy="457200"/>
          </a:xfrm>
          <a:prstGeom prst="ellipse">
            <a:avLst/>
          </a:prstGeom>
          <a:solidFill>
            <a:srgbClr val="E05C40"/>
          </a:solidFill>
          <a:ln w="12700">
            <a:solidFill>
              <a:srgbClr val="E05C40"/>
            </a:solidFill>
            <a:prstDash val="solid"/>
          </a:ln>
        </p:spPr>
      </p:sp>
      <p:sp>
        <p:nvSpPr>
          <p:cNvPr id="38" name="Text 28"/>
          <p:cNvSpPr/>
          <p:nvPr/>
        </p:nvSpPr>
        <p:spPr>
          <a:xfrm>
            <a:off x="7552944" y="148132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5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1000" dirty="0"/>
          </a:p>
        </p:txBody>
      </p:sp>
      <p:sp>
        <p:nvSpPr>
          <p:cNvPr id="39" name="Shape 29"/>
          <p:cNvSpPr/>
          <p:nvPr/>
        </p:nvSpPr>
        <p:spPr>
          <a:xfrm>
            <a:off x="7159752" y="2395728"/>
            <a:ext cx="1527048" cy="2395728"/>
          </a:xfrm>
          <a:prstGeom prst="roundRect">
            <a:avLst>
              <a:gd name="adj" fmla="val 5988"/>
            </a:avLst>
          </a:prstGeom>
          <a:solidFill>
            <a:srgbClr val="1A3A5C"/>
          </a:solidFill>
          <a:ln w="12700">
            <a:solidFill>
              <a:srgbClr val="E05C40"/>
            </a:solidFill>
            <a:prstDash val="solid"/>
          </a:ln>
        </p:spPr>
      </p:sp>
      <p:sp>
        <p:nvSpPr>
          <p:cNvPr id="40" name="Shape 30"/>
          <p:cNvSpPr/>
          <p:nvPr/>
        </p:nvSpPr>
        <p:spPr>
          <a:xfrm>
            <a:off x="7616952" y="2514600"/>
            <a:ext cx="594360" cy="594360"/>
          </a:xfrm>
          <a:prstGeom prst="ellipse">
            <a:avLst/>
          </a:prstGeom>
          <a:solidFill>
            <a:srgbClr val="E05C40">
              <a:alpha val="75000"/>
            </a:srgbClr>
          </a:solidFill>
          <a:ln w="12700">
            <a:solidFill>
              <a:srgbClr val="E05C40"/>
            </a:solidFill>
            <a:prstDash val="solid"/>
          </a:ln>
        </p:spPr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80960" y="749808"/>
            <a:ext cx="914400" cy="914400"/>
          </a:xfrm>
          <a:prstGeom prst="rect">
            <a:avLst/>
          </a:prstGeom>
        </p:spPr>
      </p:pic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80960" y="2578608"/>
            <a:ext cx="457200" cy="457200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7187184" y="318211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Systems</a:t>
            </a:r>
            <a:endParaRPr lang="en-US" sz="1100" dirty="0"/>
          </a:p>
        </p:txBody>
      </p:sp>
      <p:sp>
        <p:nvSpPr>
          <p:cNvPr id="44" name="Text 32"/>
          <p:cNvSpPr/>
          <p:nvPr/>
        </p:nvSpPr>
        <p:spPr>
          <a:xfrm>
            <a:off x="7187184" y="3639312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Self-managing smart grids, farms &amp; cities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828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for Key Stakeholders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320040" y="1078992"/>
            <a:ext cx="2697480" cy="1719072"/>
          </a:xfrm>
          <a:prstGeom prst="roundRect">
            <a:avLst>
              <a:gd name="adj" fmla="val 5319"/>
            </a:avLst>
          </a:prstGeom>
          <a:solidFill>
            <a:srgbClr val="F0F4F8"/>
          </a:solidFill>
          <a:ln w="19050">
            <a:solidFill>
              <a:srgbClr val="0D2137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29768" y="1188720"/>
            <a:ext cx="530352" cy="530352"/>
          </a:xfrm>
          <a:prstGeom prst="ellipse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1243584"/>
            <a:ext cx="420624" cy="42062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88136" y="117043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29768" y="1627632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 National AI for Sustainability Fund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 all Smart Cities &amp; rural digital programs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Formulate ethical AI regulations aligned with GDPR standards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3172968" y="1078992"/>
            <a:ext cx="2697480" cy="1719072"/>
          </a:xfrm>
          <a:prstGeom prst="roundRect">
            <a:avLst>
              <a:gd name="adj" fmla="val 5319"/>
            </a:avLst>
          </a:prstGeom>
          <a:solidFill>
            <a:srgbClr val="F0F4F8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282696" y="1188720"/>
            <a:ext cx="530352" cy="5303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1243584"/>
            <a:ext cx="420624" cy="42062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941064" y="117043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&amp; Corporates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3282696" y="1627632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Green AI — reducing AI carbon footprint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AI-driven ESG reporting and supply chain efficiency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startups for grassroots sustainability solutions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6025896" y="1078992"/>
            <a:ext cx="2697480" cy="1719072"/>
          </a:xfrm>
          <a:prstGeom prst="roundRect">
            <a:avLst>
              <a:gd name="adj" fmla="val 5319"/>
            </a:avLst>
          </a:prstGeom>
          <a:solidFill>
            <a:srgbClr val="F0F4F8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135624" y="1188720"/>
            <a:ext cx="530352" cy="53035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0488" y="1243584"/>
            <a:ext cx="420624" cy="42062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793992" y="117043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Institutions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6135624" y="1627632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AI + Sustainability curricula at UG/PG levels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NITI Aayog and MeitY for research grants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interdisciplinary AI projects for SDG impact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320040" y="3218688"/>
            <a:ext cx="4187952" cy="1719072"/>
          </a:xfrm>
          <a:prstGeom prst="roundRect">
            <a:avLst>
              <a:gd name="adj" fmla="val 5319"/>
            </a:avLst>
          </a:prstGeom>
          <a:solidFill>
            <a:srgbClr val="F0F4F8"/>
          </a:solidFill>
          <a:ln w="19050">
            <a:solidFill>
              <a:srgbClr val="0B7A4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29768" y="3328416"/>
            <a:ext cx="530352" cy="530352"/>
          </a:xfrm>
          <a:prstGeom prst="ellipse">
            <a:avLst/>
          </a:prstGeom>
          <a:solidFill>
            <a:srgbClr val="0B7A4E"/>
          </a:solidFill>
          <a:ln w="12700">
            <a:solidFill>
              <a:srgbClr val="0B7A4E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" y="3383280"/>
            <a:ext cx="420624" cy="42062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088136" y="3310128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429768" y="3767328"/>
            <a:ext cx="39593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low-energy AI model architectures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India-specific datasets for AI training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open-access AI for sustainability research</a:t>
            </a:r>
            <a:endParaRPr lang="en-US" sz="950" dirty="0"/>
          </a:p>
        </p:txBody>
      </p:sp>
      <p:sp>
        <p:nvSpPr>
          <p:cNvPr id="25" name="Shape 18"/>
          <p:cNvSpPr/>
          <p:nvPr/>
        </p:nvSpPr>
        <p:spPr>
          <a:xfrm>
            <a:off x="4727448" y="3218688"/>
            <a:ext cx="4187952" cy="1719072"/>
          </a:xfrm>
          <a:prstGeom prst="roundRect">
            <a:avLst>
              <a:gd name="adj" fmla="val 5319"/>
            </a:avLst>
          </a:prstGeom>
          <a:solidFill>
            <a:srgbClr val="F0F4F8"/>
          </a:solidFill>
          <a:ln w="19050">
            <a:solidFill>
              <a:srgbClr val="E05C4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4837176" y="3328416"/>
            <a:ext cx="530352" cy="530352"/>
          </a:xfrm>
          <a:prstGeom prst="ellipse">
            <a:avLst/>
          </a:prstGeom>
          <a:solidFill>
            <a:srgbClr val="E05C40"/>
          </a:solidFill>
          <a:ln w="12700">
            <a:solidFill>
              <a:srgbClr val="E05C40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383280"/>
            <a:ext cx="420624" cy="42062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495544" y="3310128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5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&amp; Citizens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4837176" y="3767328"/>
            <a:ext cx="39593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AI fundamentals via SWAYAM, Coursera, or NPTEL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AI-driven sustainability initiatives locally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Advocate for ethical and inclusive AI policies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1A3A5C">
              <a:alpha val="60000"/>
            </a:srgbClr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560320"/>
            <a:ext cx="3657600" cy="3657600"/>
          </a:xfrm>
          <a:prstGeom prst="ellipse">
            <a:avLst/>
          </a:prstGeom>
          <a:solidFill>
            <a:srgbClr val="0B7A4E">
              <a:alpha val="30000"/>
            </a:srgbClr>
          </a:solidFill>
          <a:ln w="12700">
            <a:solidFill>
              <a:srgbClr val="0B7A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5394960" cy="749808"/>
          </a:xfrm>
          <a:prstGeom prst="roundRect">
            <a:avLst>
              <a:gd name="adj" fmla="val 9756"/>
            </a:avLst>
          </a:prstGeom>
          <a:solidFill>
            <a:srgbClr val="1A3A5C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3776" y="1298448"/>
            <a:ext cx="512064" cy="512064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53312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5568" y="1225296"/>
            <a:ext cx="4553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not just a technology — it is a catalyst for achieving all 17 UN SDGs faster and at scale.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65760" y="2048256"/>
            <a:ext cx="5394960" cy="749808"/>
          </a:xfrm>
          <a:prstGeom prst="roundRect">
            <a:avLst>
              <a:gd name="adj" fmla="val 9756"/>
            </a:avLst>
          </a:prstGeom>
          <a:solidFill>
            <a:srgbClr val="1A3A5C"/>
          </a:solidFill>
          <a:ln w="12700">
            <a:solidFill>
              <a:srgbClr val="0B7A4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93776" y="2157984"/>
            <a:ext cx="512064" cy="512064"/>
          </a:xfrm>
          <a:prstGeom prst="ellipse">
            <a:avLst/>
          </a:prstGeom>
          <a:solidFill>
            <a:srgbClr val="0B7A4E"/>
          </a:solidFill>
          <a:ln w="12700">
            <a:solidFill>
              <a:srgbClr val="0B7A4E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12848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15568" y="2084832"/>
            <a:ext cx="4553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has a unique opportunity: large talent pool, massive data, and critical sustainability challenges where AI can have transformative impact.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65760" y="2907792"/>
            <a:ext cx="5394960" cy="749808"/>
          </a:xfrm>
          <a:prstGeom prst="roundRect">
            <a:avLst>
              <a:gd name="adj" fmla="val 9756"/>
            </a:avLst>
          </a:prstGeom>
          <a:solidFill>
            <a:srgbClr val="1A3A5C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93776" y="3017520"/>
            <a:ext cx="512064" cy="51206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072384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15568" y="2944368"/>
            <a:ext cx="4553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collaboration — sharing data, models, and best practices — is essential for AI to deliver equitable sustainable outcomes.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365760" y="3767328"/>
            <a:ext cx="5394960" cy="749808"/>
          </a:xfrm>
          <a:prstGeom prst="roundRect">
            <a:avLst>
              <a:gd name="adj" fmla="val 9756"/>
            </a:avLst>
          </a:prstGeom>
          <a:solidFill>
            <a:srgbClr val="1A3A5C"/>
          </a:solidFill>
          <a:ln w="12700">
            <a:solidFill>
              <a:srgbClr val="E05C4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93776" y="3877056"/>
            <a:ext cx="512064" cy="512064"/>
          </a:xfrm>
          <a:prstGeom prst="ellipse">
            <a:avLst/>
          </a:prstGeom>
          <a:solidFill>
            <a:srgbClr val="E05C40"/>
          </a:solidFill>
          <a:ln w="12700">
            <a:solidFill>
              <a:srgbClr val="E05C40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931920"/>
            <a:ext cx="402336" cy="40233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15568" y="3803904"/>
            <a:ext cx="4553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— with fairness, transparency, and inclusivity at its core — is the only path to a truly sustainable future.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5989320" y="1188720"/>
            <a:ext cx="2834640" cy="3703320"/>
          </a:xfrm>
          <a:prstGeom prst="roundRect">
            <a:avLst>
              <a:gd name="adj" fmla="val 4516"/>
            </a:avLst>
          </a:prstGeom>
          <a:solidFill>
            <a:srgbClr val="0B7A4E"/>
          </a:solidFill>
          <a:ln w="12700">
            <a:solidFill>
              <a:srgbClr val="0B7A4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3" name="Text 17"/>
          <p:cNvSpPr/>
          <p:nvPr/>
        </p:nvSpPr>
        <p:spPr>
          <a:xfrm>
            <a:off x="6080760" y="12344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6000" dirty="0"/>
          </a:p>
        </p:txBody>
      </p:sp>
      <p:sp>
        <p:nvSpPr>
          <p:cNvPr id="24" name="Text 18"/>
          <p:cNvSpPr/>
          <p:nvPr/>
        </p:nvSpPr>
        <p:spPr>
          <a:xfrm>
            <a:off x="6126480" y="1874520"/>
            <a:ext cx="25786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technology to build a sustainable future already exists. What's needed is the wisdom to deploy it responsibly.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6126480" y="3730752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NITI Aayog, National AI Strategy 2023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828800"/>
            <a:ext cx="6400800" cy="6400800"/>
          </a:xfrm>
          <a:prstGeom prst="ellipse">
            <a:avLst/>
          </a:prstGeom>
          <a:solidFill>
            <a:srgbClr val="1A3A5C">
              <a:alpha val="60000"/>
            </a:srgbClr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4572000" cy="4572000"/>
          </a:xfrm>
          <a:prstGeom prst="ellipse">
            <a:avLst/>
          </a:prstGeom>
          <a:solidFill>
            <a:srgbClr val="0B7A4E">
              <a:alpha val="40000"/>
            </a:srgbClr>
          </a:solidFill>
          <a:ln w="12700">
            <a:solidFill>
              <a:srgbClr val="0B7A4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2423160"/>
            <a:ext cx="2743200" cy="73152"/>
          </a:xfrm>
          <a:prstGeom prst="roundRect">
            <a:avLst>
              <a:gd name="adj" fmla="val 50000"/>
            </a:avLst>
          </a:prstGeom>
          <a:solidFill>
            <a:srgbClr val="0E9A62"/>
          </a:solidFill>
          <a:ln w="12700">
            <a:solidFill>
              <a:srgbClr val="0E9A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0972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914400" y="257860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965960" y="3337560"/>
            <a:ext cx="548640" cy="54864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9968" y="3401568"/>
            <a:ext cx="420624" cy="42062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017520" y="3337560"/>
            <a:ext cx="548640" cy="54864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528" y="3401568"/>
            <a:ext cx="420624" cy="42062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069080" y="3337560"/>
            <a:ext cx="548640" cy="54864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3088" y="3401568"/>
            <a:ext cx="420624" cy="420624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120640" y="3337560"/>
            <a:ext cx="548640" cy="54864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4648" y="3401568"/>
            <a:ext cx="420624" cy="420624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6172200" y="3337560"/>
            <a:ext cx="548640" cy="54864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6208" y="3401568"/>
            <a:ext cx="420624" cy="42062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14400" y="40690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Artificial Intelligence in Sustainable Development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914400" y="448056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Smarter and Greener Future  ·  2025–2026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Role of Artificial Intelligence in Sustainable Development</dc:title>
  <dc:subject>PptxGenJS Presentation</dc:subject>
  <dc:creator>AI &amp; Sustainable Development</dc:creator>
  <cp:lastModifiedBy>AI &amp; Sustainable Development</cp:lastModifiedBy>
  <cp:revision>1</cp:revision>
  <dcterms:created xsi:type="dcterms:W3CDTF">2026-06-29T09:21:58Z</dcterms:created>
  <dcterms:modified xsi:type="dcterms:W3CDTF">2026-06-29T09:21:58Z</dcterms:modified>
</cp:coreProperties>
</file>